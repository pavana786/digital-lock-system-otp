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sldIdLst>
    <p:sldId id="256" r:id="rId3"/>
    <p:sldId id="257" r:id="rId4"/>
    <p:sldId id="258" r:id="rId5"/>
    <p:sldId id="260" r:id="rId6"/>
    <p:sldId id="261" r:id="rId7"/>
    <p:sldId id="262" r:id="rId8"/>
    <p:sldId id="263" r:id="rId9"/>
    <p:sldId id="269" r:id="rId10"/>
    <p:sldId id="270" r:id="rId11"/>
    <p:sldId id="274" r:id="rId12"/>
    <p:sldId id="271" r:id="rId13"/>
    <p:sldId id="275" r:id="rId14"/>
    <p:sldId id="276" r:id="rId15"/>
    <p:sldId id="277" r:id="rId16"/>
  </p:sldIdLst>
  <p:sldSz cx="12192000" cy="6858000"/>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54A7265B-2121-4387-B61A-F3AE6D684C4B}" type="datetimeFigureOut">
              <a:rPr kumimoji="0" lang="en-IN" sz="1200" b="0" i="0" u="none" strike="noStrike" kern="1200" cap="none" spc="0" normalizeH="0" baseline="0" noProof="0">
                <a:ln>
                  <a:noFill/>
                </a:ln>
                <a:solidFill>
                  <a:schemeClr val="tx1"/>
                </a:solidFill>
                <a:effectLst/>
                <a:uLnTx/>
                <a:uFillTx/>
                <a:latin typeface="+mn-lt"/>
                <a:ea typeface="+mn-ea"/>
                <a:cs typeface="+mn-cs"/>
              </a:rPr>
            </a:fld>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p>
            <a:pPr lvl="0" algn="r" eaLnBrk="1" hangingPunct="1">
              <a:buNone/>
            </a:pPr>
            <a:fld id="{9A0DB2DC-4C9A-4742-B13C-FB6460FD3503}" type="slidenum">
              <a:rPr lang="en-IN" altLang="x-none" sz="1200" dirty="0"/>
            </a:fld>
            <a:endParaRPr lang="en-IN" altLang="x-none"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Title Placeholder 1"/>
          <p:cNvSpPr>
            <a:spLocks noGrp="1"/>
          </p:cNvSpPr>
          <p:nvPr>
            <p:ph type="title"/>
          </p:nvPr>
        </p:nvSpPr>
        <p:spPr>
          <a:xfrm>
            <a:off x="838200" y="365125"/>
            <a:ext cx="10515600" cy="1325563"/>
          </a:xfrm>
          <a:prstGeom prst="rect">
            <a:avLst/>
          </a:prstGeom>
          <a:noFill/>
          <a:ln w="9525">
            <a:noFill/>
          </a:ln>
        </p:spPr>
        <p:txBody>
          <a:bodyPr anchor="ctr" anchorCtr="0"/>
          <a:p>
            <a:pPr lvl="0"/>
            <a:r>
              <a:rPr lang="en-US" altLang="en-US" dirty="0"/>
              <a:t>Click to edit Master title style</a:t>
            </a:r>
            <a:endParaRPr lang="en-IN" altLang="en-US" dirty="0"/>
          </a:p>
        </p:txBody>
      </p:sp>
      <p:sp>
        <p:nvSpPr>
          <p:cNvPr id="1027" name="Text Placeholder 2"/>
          <p:cNvSpPr>
            <a:spLocks noGrp="1"/>
          </p:cNvSpPr>
          <p:nvPr>
            <p:ph type="body" idx="1"/>
          </p:nvPr>
        </p:nvSpPr>
        <p:spPr>
          <a:xfrm>
            <a:off x="838200" y="1825625"/>
            <a:ext cx="10515600" cy="4351338"/>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IN" alt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B01E893-F567-4E8A-9CB1-2B3105021E83}" type="datetime1">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898989"/>
                </a:solidFill>
              </a:defRPr>
            </a:lvl1pPr>
          </a:lstStyle>
          <a:p>
            <a:pPr lvl="0" eaLnBrk="1" hangingPunct="1">
              <a:buNone/>
            </a:pPr>
            <a:fld id="{9A0DB2DC-4C9A-4742-B13C-FB6460FD3503}" type="slidenum">
              <a:rPr lang="en-IN" altLang="x-none" dirty="0">
                <a:latin typeface="Calibri" panose="020F0502020204030204" pitchFamily="34" charset="0"/>
              </a:rPr>
            </a:fld>
            <a:endParaRPr lang="en-IN" altLang="x-none" dirty="0">
              <a:latin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Rectangle 14"/>
          <p:cNvSpPr/>
          <p:nvPr/>
        </p:nvSpPr>
        <p:spPr>
          <a:xfrm>
            <a:off x="157163" y="166688"/>
            <a:ext cx="11850688" cy="6524625"/>
          </a:xfrm>
          <a:prstGeom prst="rect">
            <a:avLst/>
          </a:prstGeom>
          <a:ln w="28575">
            <a:solidFill>
              <a:schemeClr val="accent2">
                <a:lumMod val="75000"/>
              </a:schemeClr>
            </a:solidFill>
          </a:ln>
        </p:spPr>
        <p:style>
          <a:lnRef idx="2">
            <a:schemeClr val="dk1"/>
          </a:lnRef>
          <a:fillRef idx="1">
            <a:schemeClr val="lt1"/>
          </a:fillRef>
          <a:effectRef idx="0">
            <a:schemeClr val="dk1"/>
          </a:effectRef>
          <a:fontRef idx="minor">
            <a:schemeClr val="dk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IN" sz="1800" b="0" i="0" u="none" strike="noStrike" kern="1200" cap="none" spc="0" normalizeH="0" baseline="0" noProof="0">
              <a:ln>
                <a:noFill/>
              </a:ln>
              <a:solidFill>
                <a:schemeClr val="dk1"/>
              </a:solidFill>
              <a:effectLst/>
              <a:uLnTx/>
              <a:uFillTx/>
              <a:latin typeface="+mn-lt"/>
              <a:ea typeface="+mn-ea"/>
              <a:cs typeface="+mn-cs"/>
            </a:endParaRPr>
          </a:p>
        </p:txBody>
      </p:sp>
      <p:pic>
        <p:nvPicPr>
          <p:cNvPr id="3075" name="Picture 7"/>
          <p:cNvPicPr>
            <a:picLocks noChangeAspect="1"/>
          </p:cNvPicPr>
          <p:nvPr/>
        </p:nvPicPr>
        <p:blipFill>
          <a:blip r:embed="rId1"/>
          <a:srcRect l="31154" t="3214" r="33717" b="5397"/>
          <a:stretch>
            <a:fillRect/>
          </a:stretch>
        </p:blipFill>
        <p:spPr>
          <a:xfrm>
            <a:off x="10926763" y="255588"/>
            <a:ext cx="1016000" cy="996950"/>
          </a:xfrm>
          <a:prstGeom prst="rect">
            <a:avLst/>
          </a:prstGeom>
          <a:noFill/>
          <a:ln w="9525">
            <a:noFill/>
          </a:ln>
        </p:spPr>
      </p:pic>
      <p:sp>
        <p:nvSpPr>
          <p:cNvPr id="3076" name="TextBox 9"/>
          <p:cNvSpPr txBox="1"/>
          <p:nvPr/>
        </p:nvSpPr>
        <p:spPr>
          <a:xfrm>
            <a:off x="1533525" y="184150"/>
            <a:ext cx="9193213" cy="1687513"/>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en-US" sz="4400" b="1" dirty="0">
                <a:solidFill>
                  <a:srgbClr val="ED7D31"/>
                </a:solidFill>
                <a:latin typeface="English111 Vivace BT" panose="03030702030607090B03" pitchFamily="66" charset="2"/>
                <a:cs typeface="Times New Roman" panose="02020603050405020304" pitchFamily="18" charset="0"/>
              </a:rPr>
              <a:t>B.N.M. Institute of Technology</a:t>
            </a:r>
            <a:endParaRPr lang="en-IN" altLang="en-US" sz="1800" dirty="0">
              <a:solidFill>
                <a:srgbClr val="000000"/>
              </a:solidFill>
              <a:latin typeface="Times New Roman" panose="02020603050405020304" pitchFamily="18" charset="0"/>
            </a:endParaRPr>
          </a:p>
          <a:p>
            <a:pPr marL="0" lvl="0" indent="0" algn="ctr">
              <a:spcBef>
                <a:spcPct val="0"/>
              </a:spcBef>
              <a:buNone/>
            </a:pPr>
            <a:r>
              <a:rPr lang="en-IN" altLang="en-US" sz="1800" dirty="0">
                <a:solidFill>
                  <a:srgbClr val="000000"/>
                </a:solidFill>
                <a:latin typeface="Times New Roman" panose="02020603050405020304" pitchFamily="18" charset="0"/>
              </a:rPr>
              <a:t> </a:t>
            </a:r>
            <a:r>
              <a:rPr lang="en-IN" altLang="en-US" sz="1200" b="1" dirty="0">
                <a:solidFill>
                  <a:srgbClr val="000000"/>
                </a:solidFill>
                <a:latin typeface="Times New Roman" panose="02020603050405020304" pitchFamily="18" charset="0"/>
              </a:rPr>
              <a:t>An Autonomous Institution under VTU </a:t>
            </a:r>
            <a:endParaRPr lang="en-IN" altLang="en-US" sz="1200" dirty="0">
              <a:solidFill>
                <a:srgbClr val="000000"/>
              </a:solidFill>
              <a:latin typeface="Times New Roman" panose="02020603050405020304" pitchFamily="18" charset="0"/>
            </a:endParaRPr>
          </a:p>
          <a:p>
            <a:pPr marL="0" lvl="0" indent="0" algn="ctr">
              <a:spcBef>
                <a:spcPct val="0"/>
              </a:spcBef>
              <a:buNone/>
            </a:pPr>
            <a:r>
              <a:rPr lang="en-US" altLang="en-US" sz="1200" b="1" dirty="0">
                <a:solidFill>
                  <a:srgbClr val="000000"/>
                </a:solidFill>
                <a:latin typeface="Times New Roman" panose="02020603050405020304" pitchFamily="18" charset="0"/>
              </a:rPr>
              <a:t>Approved by AICTE, Accredited as Grade A Institution by NAAC till 31.12.2026. </a:t>
            </a:r>
            <a:endParaRPr lang="en-US" altLang="en-US" sz="1200" dirty="0">
              <a:solidFill>
                <a:srgbClr val="000000"/>
              </a:solidFill>
              <a:latin typeface="Times New Roman" panose="02020603050405020304" pitchFamily="18" charset="0"/>
            </a:endParaRPr>
          </a:p>
          <a:p>
            <a:pPr marL="0" lvl="0" indent="0" algn="ctr">
              <a:spcBef>
                <a:spcPct val="0"/>
              </a:spcBef>
              <a:buNone/>
            </a:pPr>
            <a:r>
              <a:rPr lang="en-US" altLang="en-US" sz="1200" b="1" dirty="0">
                <a:solidFill>
                  <a:srgbClr val="000000"/>
                </a:solidFill>
                <a:latin typeface="Times New Roman" panose="02020603050405020304" pitchFamily="18" charset="0"/>
              </a:rPr>
              <a:t>All Eligible UG branches – CSE, ECE, EEE, ISE &amp; Mech. Engg. Accredited by NBA till 30.06.2025 </a:t>
            </a:r>
            <a:endParaRPr lang="en-US" altLang="en-US" sz="1200" dirty="0">
              <a:solidFill>
                <a:srgbClr val="000000"/>
              </a:solidFill>
              <a:latin typeface="Times New Roman" panose="02020603050405020304" pitchFamily="18" charset="0"/>
            </a:endParaRPr>
          </a:p>
          <a:p>
            <a:pPr marL="0" lvl="0" indent="0" algn="ctr">
              <a:spcBef>
                <a:spcPct val="0"/>
              </a:spcBef>
              <a:buNone/>
            </a:pPr>
            <a:r>
              <a:rPr lang="en-US" altLang="en-US" sz="1200" b="1" dirty="0">
                <a:solidFill>
                  <a:srgbClr val="000000"/>
                </a:solidFill>
                <a:latin typeface="Times New Roman" panose="02020603050405020304" pitchFamily="18" charset="0"/>
              </a:rPr>
              <a:t>Post box no. 7087, 27th cross, 12th Main, Banashankari 2nd Stage, Bengaluru- 560070, INDIA </a:t>
            </a:r>
            <a:endParaRPr lang="en-US" altLang="en-US" sz="1200" dirty="0">
              <a:solidFill>
                <a:srgbClr val="000000"/>
              </a:solidFill>
              <a:latin typeface="Times New Roman" panose="02020603050405020304" pitchFamily="18" charset="0"/>
            </a:endParaRPr>
          </a:p>
          <a:p>
            <a:pPr marL="0" lvl="0" indent="0" algn="ctr">
              <a:spcBef>
                <a:spcPct val="0"/>
              </a:spcBef>
              <a:buNone/>
            </a:pPr>
            <a:r>
              <a:rPr lang="en-US" altLang="en-US" sz="1200" b="1" dirty="0">
                <a:solidFill>
                  <a:srgbClr val="000000"/>
                </a:solidFill>
                <a:latin typeface="Times New Roman" panose="02020603050405020304" pitchFamily="18" charset="0"/>
              </a:rPr>
              <a:t>Ph: 91-80- 26711780/81/82 Email: </a:t>
            </a:r>
            <a:r>
              <a:rPr lang="en-US" altLang="en-US" sz="1200" b="1" dirty="0">
                <a:solidFill>
                  <a:srgbClr val="0000FF"/>
                </a:solidFill>
                <a:latin typeface="Times New Roman" panose="02020603050405020304" pitchFamily="18" charset="0"/>
              </a:rPr>
              <a:t>principal@bnmit.in</a:t>
            </a:r>
            <a:r>
              <a:rPr lang="en-US" altLang="en-US" sz="1200" b="1" dirty="0">
                <a:solidFill>
                  <a:srgbClr val="000000"/>
                </a:solidFill>
                <a:latin typeface="Times New Roman" panose="02020603050405020304" pitchFamily="18" charset="0"/>
              </a:rPr>
              <a:t>, </a:t>
            </a:r>
            <a:r>
              <a:rPr lang="en-US" altLang="en-US" sz="1200" b="1" dirty="0">
                <a:solidFill>
                  <a:srgbClr val="0000FF"/>
                </a:solidFill>
                <a:latin typeface="Times New Roman" panose="02020603050405020304" pitchFamily="18" charset="0"/>
              </a:rPr>
              <a:t>www.bnmit.org </a:t>
            </a:r>
            <a:endParaRPr lang="en-US" altLang="en-US" sz="3200" b="1" dirty="0">
              <a:solidFill>
                <a:srgbClr val="ED7D31"/>
              </a:solidFill>
              <a:latin typeface="English111 Vivace BT" panose="03030702030607090B03" pitchFamily="66" charset="2"/>
              <a:ea typeface="Times New Roman" panose="02020603050405020304" pitchFamily="18" charset="0"/>
            </a:endParaRPr>
          </a:p>
        </p:txBody>
      </p:sp>
      <p:sp>
        <p:nvSpPr>
          <p:cNvPr id="11" name="TextBox 10"/>
          <p:cNvSpPr txBox="1"/>
          <p:nvPr/>
        </p:nvSpPr>
        <p:spPr>
          <a:xfrm>
            <a:off x="4062413" y="1944688"/>
            <a:ext cx="3989388" cy="401638"/>
          </a:xfrm>
          <a:prstGeom prst="rect">
            <a:avLst/>
          </a:prstGeom>
          <a:noFill/>
        </p:spPr>
        <p:txBody>
          <a:bodyPr wrap="none">
            <a:spAutoFit/>
          </a:bodyPr>
          <a:lstStyle/>
          <a:p>
            <a:pPr marR="0" algn="ctr" defTabSz="914400" eaLnBrk="1" fontAlgn="auto" hangingPunct="1">
              <a:spcBef>
                <a:spcPts val="0"/>
              </a:spcBef>
              <a:spcAft>
                <a:spcPts val="0"/>
              </a:spcAft>
              <a:buClrTx/>
              <a:buSzTx/>
              <a:buFontTx/>
              <a:buNone/>
              <a:defRPr/>
            </a:pPr>
            <a:r>
              <a:rPr kumimoji="0" lang="en-IN" sz="2000" b="1" kern="1200" cap="none" spc="0" normalizeH="0" baseline="0" noProof="0" dirty="0">
                <a:solidFill>
                  <a:srgbClr val="7030A0"/>
                </a:solidFill>
                <a:latin typeface="Times New Roman" panose="02020603050405020304" pitchFamily="18" charset="0"/>
                <a:ea typeface="+mn-ea"/>
                <a:cs typeface="Times New Roman" panose="02020603050405020304" pitchFamily="18" charset="0"/>
              </a:rPr>
              <a:t>Internship II Seminar (23ECE15</a:t>
            </a:r>
            <a:r>
              <a:rPr kumimoji="0" lang="en-US" sz="2000" b="1" kern="0" cap="none" spc="0" normalizeH="0" baseline="0" noProof="0" dirty="0">
                <a:solidFill>
                  <a:srgbClr val="7030A0"/>
                </a:solidFill>
                <a:latin typeface="Times New Roman" panose="02020603050405020304" pitchFamily="18" charset="0"/>
                <a:ea typeface="Times New Roman" panose="02020603050405020304" pitchFamily="18" charset="0"/>
                <a:cs typeface="+mn-cs"/>
              </a:rPr>
              <a:t>8)</a:t>
            </a:r>
            <a:endParaRPr kumimoji="0" lang="en-IN" sz="2000" b="1" kern="0" cap="none" spc="0" normalizeH="0" baseline="0" noProof="0" dirty="0">
              <a:solidFill>
                <a:srgbClr val="7030A0"/>
              </a:solidFill>
              <a:latin typeface="Times New Roman" panose="02020603050405020304" pitchFamily="18" charset="0"/>
              <a:ea typeface="Times New Roman" panose="02020603050405020304" pitchFamily="18" charset="0"/>
              <a:cs typeface="+mn-cs"/>
            </a:endParaRPr>
          </a:p>
        </p:txBody>
      </p:sp>
      <p:sp>
        <p:nvSpPr>
          <p:cNvPr id="3078" name="TextBox 11"/>
          <p:cNvSpPr txBox="1"/>
          <p:nvPr/>
        </p:nvSpPr>
        <p:spPr>
          <a:xfrm>
            <a:off x="1041400" y="2989263"/>
            <a:ext cx="10172700" cy="521970"/>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en-US" b="1" dirty="0">
                <a:solidFill>
                  <a:srgbClr val="0070C0"/>
                </a:solidFill>
                <a:latin typeface="Times New Roman" panose="02020603050405020304" pitchFamily="18" charset="0"/>
                <a:ea typeface="Times New Roman" panose="02020603050405020304" pitchFamily="18" charset="0"/>
                <a:sym typeface="+mn-ea"/>
              </a:rPr>
              <a:t>Digital Lock System with OTP Verification</a:t>
            </a:r>
            <a:endParaRPr lang="en-IN" altLang="en-US" b="1" dirty="0">
              <a:solidFill>
                <a:srgbClr val="0070C0"/>
              </a:solidFill>
              <a:latin typeface="Times New Roman" panose="02020603050405020304" pitchFamily="18" charset="0"/>
              <a:ea typeface="Times New Roman" panose="02020603050405020304" pitchFamily="18" charset="0"/>
            </a:endParaRPr>
          </a:p>
        </p:txBody>
      </p:sp>
      <p:graphicFrame>
        <p:nvGraphicFramePr>
          <p:cNvPr id="13" name="Table 4"/>
          <p:cNvGraphicFramePr>
            <a:graphicFrameLocks noGrp="1"/>
          </p:cNvGraphicFramePr>
          <p:nvPr/>
        </p:nvGraphicFramePr>
        <p:xfrm>
          <a:off x="4656138" y="4235450"/>
          <a:ext cx="2709863" cy="741364"/>
        </p:xfrm>
        <a:graphic>
          <a:graphicData uri="http://schemas.openxmlformats.org/drawingml/2006/table">
            <a:tbl>
              <a:tblPr firstRow="1" bandRow="1">
                <a:tableStyleId>{5C22544A-7EE6-4342-B048-85BDC9FD1C3A}</a:tableStyleId>
              </a:tblPr>
              <a:tblGrid>
                <a:gridCol w="2709862"/>
              </a:tblGrid>
              <a:tr h="370682">
                <a:tc>
                  <a:txBody>
                    <a:bodyPr/>
                    <a:lstStyle/>
                    <a:p>
                      <a:pPr algn="ctr"/>
                      <a:r>
                        <a:rPr lang="en-IN" sz="1800" b="0" dirty="0">
                          <a:solidFill>
                            <a:schemeClr val="tx1"/>
                          </a:solidFill>
                          <a:latin typeface="Times New Roman" panose="02020603050405020304" pitchFamily="18" charset="0"/>
                          <a:cs typeface="Times New Roman" panose="02020603050405020304" pitchFamily="18" charset="0"/>
                        </a:rPr>
                        <a:t>Pavana P</a:t>
                      </a:r>
                      <a:endParaRPr lang="en-IN" sz="1800" b="0" dirty="0">
                        <a:solidFill>
                          <a:schemeClr val="tx1"/>
                        </a:solidFill>
                        <a:latin typeface="Times New Roman" panose="02020603050405020304" pitchFamily="18" charset="0"/>
                        <a:cs typeface="Times New Roman" panose="02020603050405020304" pitchFamily="18" charset="0"/>
                      </a:endParaRPr>
                    </a:p>
                  </a:txBody>
                  <a:tcPr marL="91458" marR="91458" marT="45700" marB="45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682">
                <a:tc>
                  <a:txBody>
                    <a:bodyPr/>
                    <a:lstStyle/>
                    <a:p>
                      <a:pPr algn="ctr"/>
                      <a:r>
                        <a:rPr lang="en-IN" sz="1800" b="0" dirty="0">
                          <a:solidFill>
                            <a:schemeClr val="tx1"/>
                          </a:solidFill>
                          <a:latin typeface="Times New Roman" panose="02020603050405020304" pitchFamily="18" charset="0"/>
                          <a:cs typeface="Times New Roman" panose="02020603050405020304" pitchFamily="18" charset="0"/>
                        </a:rPr>
                        <a:t>1BG23EC077</a:t>
                      </a:r>
                      <a:endParaRPr lang="en-IN" sz="1800" b="0" dirty="0">
                        <a:solidFill>
                          <a:schemeClr val="tx1"/>
                        </a:solidFill>
                        <a:latin typeface="Times New Roman" panose="02020603050405020304" pitchFamily="18" charset="0"/>
                        <a:cs typeface="Times New Roman" panose="02020603050405020304" pitchFamily="18" charset="0"/>
                      </a:endParaRPr>
                    </a:p>
                  </a:txBody>
                  <a:tcPr marL="91458" marR="91458" marT="45700" marB="457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3082" name="Subtitle 13"/>
          <p:cNvSpPr>
            <a:spLocks noGrp="1"/>
          </p:cNvSpPr>
          <p:nvPr>
            <p:ph type="subTitle" idx="1"/>
          </p:nvPr>
        </p:nvSpPr>
        <p:spPr>
          <a:xfrm>
            <a:off x="4376738" y="5413375"/>
            <a:ext cx="3502025" cy="1198880"/>
          </a:xfrm>
        </p:spPr>
        <p:txBody>
          <a:bodyPr vert="horz" wrap="square" lIns="91440" tIns="45720" rIns="91440" bIns="45720" anchor="t" anchorCtr="0">
            <a:spAutoFit/>
          </a:bodyPr>
          <a:p>
            <a:pPr eaLnBrk="1" hangingPunct="1">
              <a:lnSpc>
                <a:spcPct val="100000"/>
              </a:lnSpc>
              <a:spcBef>
                <a:spcPct val="0"/>
              </a:spcBef>
              <a:buClrTx/>
              <a:buSzTx/>
            </a:pPr>
            <a:r>
              <a:rPr lang="en-IN" altLang="en-US" sz="1800" dirty="0">
                <a:solidFill>
                  <a:srgbClr val="C00000"/>
                </a:solidFill>
                <a:latin typeface="Times New Roman" panose="02020603050405020304" pitchFamily="18" charset="0"/>
                <a:cs typeface="Times New Roman" panose="02020603050405020304" pitchFamily="18" charset="0"/>
                <a:sym typeface="+mn-ea"/>
              </a:rPr>
              <a:t>Under the guidance of</a:t>
            </a:r>
            <a:endParaRPr lang="en-IN" altLang="en-US" sz="1800" kern="1200" dirty="0">
              <a:solidFill>
                <a:srgbClr val="C00000"/>
              </a:solidFill>
              <a:latin typeface="Times New Roman" panose="02020603050405020304" pitchFamily="18" charset="0"/>
              <a:ea typeface="+mn-ea"/>
              <a:cs typeface="Times New Roman" panose="02020603050405020304" pitchFamily="18" charset="0"/>
            </a:endParaRPr>
          </a:p>
          <a:p>
            <a:pPr eaLnBrk="1" hangingPunct="1">
              <a:lnSpc>
                <a:spcPct val="100000"/>
              </a:lnSpc>
              <a:spcBef>
                <a:spcPct val="0"/>
              </a:spcBef>
              <a:buClrTx/>
              <a:buSzTx/>
            </a:pPr>
            <a:r>
              <a:rPr lang="en-US" altLang="en-US" sz="1800" b="1" dirty="0">
                <a:solidFill>
                  <a:srgbClr val="C00000"/>
                </a:solidFill>
                <a:latin typeface="Times New Roman" panose="02020603050405020304" pitchFamily="18" charset="0"/>
                <a:cs typeface="Times New Roman" panose="02020603050405020304" pitchFamily="18" charset="0"/>
                <a:sym typeface="+mn-ea"/>
              </a:rPr>
              <a:t>Dr. Sameera P</a:t>
            </a:r>
            <a:endParaRPr lang="en-US" altLang="en-US" sz="1800" b="1" kern="1200" dirty="0">
              <a:solidFill>
                <a:srgbClr val="C00000"/>
              </a:solidFill>
              <a:latin typeface="Times New Roman" panose="02020603050405020304" pitchFamily="18" charset="0"/>
              <a:ea typeface="+mn-ea"/>
              <a:cs typeface="Times New Roman" panose="02020603050405020304" pitchFamily="18" charset="0"/>
            </a:endParaRPr>
          </a:p>
          <a:p>
            <a:pPr eaLnBrk="1" hangingPunct="1">
              <a:lnSpc>
                <a:spcPct val="100000"/>
              </a:lnSpc>
              <a:spcBef>
                <a:spcPct val="0"/>
              </a:spcBef>
              <a:buClrTx/>
              <a:buSzTx/>
            </a:pPr>
            <a:r>
              <a:rPr lang="en-US" altLang="en-US" sz="1800" dirty="0">
                <a:solidFill>
                  <a:srgbClr val="C00000"/>
                </a:solidFill>
                <a:latin typeface="Times New Roman" panose="02020603050405020304" pitchFamily="18" charset="0"/>
                <a:cs typeface="Times New Roman" panose="02020603050405020304" pitchFamily="18" charset="0"/>
                <a:sym typeface="+mn-ea"/>
              </a:rPr>
              <a:t>Assistant Professor</a:t>
            </a:r>
            <a:endParaRPr lang="en-US" altLang="en-US" sz="1800" kern="1200" dirty="0">
              <a:solidFill>
                <a:srgbClr val="C00000"/>
              </a:solidFill>
              <a:latin typeface="Times New Roman" panose="02020603050405020304" pitchFamily="18" charset="0"/>
              <a:ea typeface="+mn-ea"/>
              <a:cs typeface="Times New Roman" panose="02020603050405020304" pitchFamily="18" charset="0"/>
            </a:endParaRPr>
          </a:p>
          <a:p>
            <a:pPr eaLnBrk="1" hangingPunct="1">
              <a:lnSpc>
                <a:spcPct val="100000"/>
              </a:lnSpc>
              <a:spcBef>
                <a:spcPct val="0"/>
              </a:spcBef>
              <a:buClrTx/>
              <a:buSzTx/>
            </a:pPr>
            <a:r>
              <a:rPr lang="en-IN" altLang="en-US" sz="1800" dirty="0">
                <a:solidFill>
                  <a:srgbClr val="C00000"/>
                </a:solidFill>
                <a:latin typeface="Times New Roman" panose="02020603050405020304" pitchFamily="18" charset="0"/>
                <a:cs typeface="Times New Roman" panose="02020603050405020304" pitchFamily="18" charset="0"/>
                <a:sym typeface="+mn-ea"/>
              </a:rPr>
              <a:t>Dept. of ECE, BNMIT</a:t>
            </a:r>
            <a:endParaRPr lang="en-IN" altLang="en-US" sz="1800" kern="1200" dirty="0">
              <a:solidFill>
                <a:srgbClr val="C00000"/>
              </a:solidFill>
              <a:latin typeface="+mn-lt"/>
              <a:ea typeface="Calibri" panose="020F0502020204030204" pitchFamily="34" charset="0"/>
              <a:cs typeface="+mn-cs"/>
            </a:endParaRPr>
          </a:p>
        </p:txBody>
      </p:sp>
      <p:pic>
        <p:nvPicPr>
          <p:cNvPr id="3083" name="Picture 1"/>
          <p:cNvPicPr>
            <a:picLocks noChangeAspect="1"/>
          </p:cNvPicPr>
          <p:nvPr/>
        </p:nvPicPr>
        <p:blipFill>
          <a:blip r:embed="rId2"/>
          <a:stretch>
            <a:fillRect/>
          </a:stretch>
        </p:blipFill>
        <p:spPr>
          <a:xfrm>
            <a:off x="184150" y="241300"/>
            <a:ext cx="1573213" cy="100965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txBox="1">
            <a:spLocks noGrp="1"/>
          </p:cNvSpPr>
          <p:nvPr>
            <p:ph type="ftr" sz="quarter" idx="11"/>
          </p:nvPr>
        </p:nvSpPr>
        <p:spPr>
          <a:xfrm>
            <a:off x="838200" y="6294438"/>
            <a:ext cx="6958013" cy="365125"/>
          </a:xfrm>
          <a:noFill/>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IN" sz="14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rPr>
              <a:t>Dept. of ECE                                                                                         2025-26</a:t>
            </a:r>
            <a:endParaRPr kumimoji="0" lang="en-IN" sz="14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mn-ea"/>
              <a:cs typeface="Times New Roman" panose="02020603050405020304" pitchFamily="18" charset="0"/>
            </a:endParaRPr>
          </a:p>
        </p:txBody>
      </p:sp>
      <p:sp>
        <p:nvSpPr>
          <p:cNvPr id="5" name="Slide Number Placeholder 4"/>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4100" name="Title 5"/>
          <p:cNvSpPr>
            <a:spLocks noGrp="1"/>
          </p:cNvSpPr>
          <p:nvPr>
            <p:ph type="title"/>
          </p:nvPr>
        </p:nvSpPr>
        <p:spPr>
          <a:xfrm>
            <a:off x="838200" y="395923"/>
            <a:ext cx="9904413" cy="700405"/>
          </a:xfrm>
        </p:spPr>
        <p:txBody>
          <a:bodyPr vert="horz" wrap="square" lIns="91440" tIns="45720" rIns="91440" bIns="45720" anchor="ctr" anchorCtr="0">
            <a:spAutoFit/>
          </a:bodyPr>
          <a:p>
            <a:pPr eaLnBrk="1" hangingPunct="1"/>
            <a:r>
              <a:rPr lang="en-IN" altLang="en-US" b="1" dirty="0">
                <a:solidFill>
                  <a:srgbClr val="7030A0"/>
                </a:solidFill>
                <a:latin typeface="Times New Roman" panose="02020603050405020304" pitchFamily="18" charset="0"/>
                <a:cs typeface="Times New Roman" panose="02020603050405020304" pitchFamily="18" charset="0"/>
              </a:rPr>
              <a:t>Contents</a:t>
            </a:r>
            <a:endParaRPr lang="en-IN" altLang="en-US" b="1" dirty="0">
              <a:solidFill>
                <a:srgbClr val="7030A0"/>
              </a:solidFill>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Content Placeholder 6"/>
          <p:cNvSpPr txBox="1">
            <a:spLocks noGrp="1"/>
          </p:cNvSpPr>
          <p:nvPr>
            <p:ph idx="1"/>
          </p:nvPr>
        </p:nvSpPr>
        <p:spPr>
          <a:xfrm>
            <a:off x="635000" y="1260475"/>
            <a:ext cx="10515600" cy="3475990"/>
          </a:xfrm>
        </p:spPr>
        <p:txBody>
          <a:bodyPr vert="horz" wrap="square" lIns="91440" tIns="45720" rIns="91440" bIns="45720" numCol="1" anchor="t" anchorCtr="0" compatLnSpc="1">
            <a:spAutoFit/>
          </a:bodyPr>
          <a:lstStyle/>
          <a:p>
            <a:pPr marL="342900" marR="0" lvl="0" indent="-342900" algn="just" defTabSz="914400" rtl="0" eaLnBrk="1" fontAlgn="base" latinLnBrk="0" hangingPunct="1">
              <a:lnSpc>
                <a:spcPct val="115000"/>
              </a:lnSpc>
              <a:spcBef>
                <a:spcPts val="1000"/>
              </a:spcBef>
              <a:spcAft>
                <a:spcPct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About the Company/ Organization.</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15000"/>
              </a:lnSpc>
              <a:spcBef>
                <a:spcPts val="1000"/>
              </a:spcBef>
              <a:spcAft>
                <a:spcPct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About the Department (Department in which the student has taken up internship).</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0" fontAlgn="base" latinLnBrk="0" hangingPunct="0">
              <a:lnSpc>
                <a:spcPct val="115000"/>
              </a:lnSpc>
              <a:spcBef>
                <a:spcPts val="1000"/>
              </a:spcBef>
              <a:spcAft>
                <a:spcPct val="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Project Details (objective, scope, description and methodology)</a:t>
            </a:r>
            <a:endParaRPr kumimoji="0" lang="en-IN" sz="2400" b="0" i="0" u="none" strike="noStrike" kern="1200" cap="none" spc="0" normalizeH="0" baseline="0" noProof="0" dirty="0">
              <a:ln>
                <a:noFill/>
              </a:ln>
              <a:solidFill>
                <a:schemeClr val="tx1"/>
              </a:solidFill>
              <a:effectLst/>
              <a:uLnTx/>
              <a:uFillTx/>
              <a:latin typeface="+mn-lt"/>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15000"/>
              </a:lnSpc>
              <a:spcBef>
                <a:spcPts val="1000"/>
              </a:spcBef>
              <a:spcAft>
                <a:spcPts val="60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Results</a:t>
            </a:r>
            <a:endPar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defTabSz="914400" rtl="0" eaLnBrk="1" fontAlgn="base" latinLnBrk="0" hangingPunct="1">
              <a:lnSpc>
                <a:spcPct val="115000"/>
              </a:lnSpc>
              <a:spcBef>
                <a:spcPts val="1000"/>
              </a:spcBef>
              <a:spcAft>
                <a:spcPts val="600"/>
              </a:spcAft>
              <a:buClrTx/>
              <a:buSzTx/>
              <a:buFont typeface="+mj-lt"/>
              <a:buAutoNum type="arabicPeriod"/>
              <a:defRPr/>
            </a:pPr>
            <a:r>
              <a:rPr kumimoji="0" lang="en-US" sz="2400" b="0" i="0" u="none" strike="noStrike" kern="1200" cap="none" spc="0" normalizeH="0" baseline="0" noProof="0" dirty="0">
                <a:ln>
                  <a:noFill/>
                </a:ln>
                <a:solidFill>
                  <a:schemeClr val="tx1"/>
                </a:solidFill>
                <a:effectLst/>
                <a:uLnTx/>
                <a:uFillTx/>
                <a:latin typeface="Times New Roman" panose="02020603050405020304" pitchFamily="18" charset="0"/>
                <a:ea typeface="Calibri" panose="020F0502020204030204" pitchFamily="34" charset="0"/>
                <a:cs typeface="Times New Roman" panose="02020603050405020304" pitchFamily="18" charset="0"/>
              </a:rPr>
              <a:t> References</a:t>
            </a:r>
            <a:endParaRPr kumimoji="0" lang="en-IN" sz="2400" b="0" i="0" u="none" strike="noStrike" kern="1200" cap="none" spc="0" normalizeH="0" baseline="0" noProof="0" dirty="0">
              <a:ln>
                <a:noFill/>
              </a:ln>
              <a:solidFill>
                <a:schemeClr val="tx1"/>
              </a:solidFill>
              <a:effectLst/>
              <a:uLnTx/>
              <a:uFillTx/>
              <a:latin typeface="Times New Roman" panose="02020603050405020304" pitchFamily="18" charset="0"/>
              <a:ea typeface="MS Mincho" pitchFamily="49" charset="-128"/>
              <a:cs typeface="Times New Roman" panose="02020603050405020304" pitchFamily="18" charset="0"/>
            </a:endParaRPr>
          </a:p>
          <a:p>
            <a:pPr marL="342900" marR="0" lvl="0" indent="-342900" algn="l" defTabSz="914400" rtl="0" eaLnBrk="1" fontAlgn="base" latinLnBrk="0" hangingPunct="1">
              <a:lnSpc>
                <a:spcPct val="150000"/>
              </a:lnSpc>
              <a:spcBef>
                <a:spcPts val="325"/>
              </a:spcBef>
              <a:spcAft>
                <a:spcPct val="0"/>
              </a:spcAft>
              <a:buClrTx/>
              <a:buSzTx/>
              <a:buFont typeface="Symbol" panose="05050102010706020507" pitchFamily="18" charset="2"/>
              <a:buChar char=""/>
              <a:defRPr/>
            </a:pPr>
            <a:endParaRPr kumimoji="0" lang="en-I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itle 1"/>
          <p:cNvSpPr>
            <a:spLocks noGrp="1"/>
          </p:cNvSpPr>
          <p:nvPr>
            <p:ph type="title"/>
          </p:nvPr>
        </p:nvSpPr>
        <p:spPr>
          <a:xfrm>
            <a:off x="471805" y="273685"/>
            <a:ext cx="7315835" cy="1325880"/>
          </a:xfrm>
        </p:spPr>
        <p:txBody>
          <a:bodyPr vert="horz" wrap="square" lIns="91440" tIns="45720" rIns="91440" bIns="45720" anchor="ctr" anchorCtr="0"/>
          <a:p>
            <a:r>
              <a:rPr lang="en-US" alt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Organisation</a:t>
            </a:r>
            <a:endParaRPr lang="en-US" alt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endParaRPr>
          </a:p>
        </p:txBody>
      </p:sp>
      <p:sp>
        <p:nvSpPr>
          <p:cNvPr id="5123" name="Content Placeholder 2"/>
          <p:cNvSpPr>
            <a:spLocks noGrp="1"/>
          </p:cNvSpPr>
          <p:nvPr>
            <p:ph idx="1"/>
          </p:nvPr>
        </p:nvSpPr>
        <p:spPr>
          <a:xfrm>
            <a:off x="471805" y="1663065"/>
            <a:ext cx="11508105" cy="4514215"/>
          </a:xfrm>
        </p:spPr>
        <p:txBody>
          <a:bodyPr vert="horz" wrap="square" lIns="91440" tIns="45720" rIns="91440" bIns="45720" anchor="t" anchorCtr="0"/>
          <a:p>
            <a:pPr marR="0" lvl="0" algn="just" defTabSz="914400" rtl="0" eaLnBrk="0" fontAlgn="base" latinLnBrk="0" hangingPunct="0">
              <a:lnSpc>
                <a:spcPct val="140000"/>
              </a:lnSpc>
              <a:spcBef>
                <a:spcPct val="0"/>
              </a:spcBef>
              <a:spcAft>
                <a:spcPct val="0"/>
              </a:spcAft>
              <a:buClrTx/>
              <a:buSzTx/>
              <a:defRPr/>
            </a:pPr>
            <a:r>
              <a:rPr lang="en-US" sz="2000" b="1" noProof="0" dirty="0">
                <a:ln>
                  <a:noFill/>
                </a:ln>
                <a:effectLst/>
                <a:uLnTx/>
                <a:uFillTx/>
                <a:latin typeface="Times New Roman" panose="02020603050405020304" pitchFamily="18" charset="0"/>
                <a:cs typeface="Times New Roman" panose="02020603050405020304" pitchFamily="18" charset="0"/>
                <a:sym typeface="+mn-ea"/>
              </a:rPr>
              <a:t>Cranes Varsity </a:t>
            </a:r>
            <a:r>
              <a:rPr lang="en-US" sz="2000" noProof="0" dirty="0">
                <a:ln>
                  <a:noFill/>
                </a:ln>
                <a:effectLst/>
                <a:uLnTx/>
                <a:uFillTx/>
                <a:latin typeface="Times New Roman" panose="02020603050405020304" pitchFamily="18" charset="0"/>
                <a:cs typeface="Times New Roman" panose="02020603050405020304" pitchFamily="18" charset="0"/>
                <a:sym typeface="+mn-ea"/>
              </a:rPr>
              <a:t>was e</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stablished in 1998, incorporated as a private limited company on August 18, 2017 in the Headquartered in Bengaluru, Karnataka, India.</a:t>
            </a:r>
            <a:endParaRPr lang="en-US" sz="2000" noProof="0" dirty="0">
              <a:ln>
                <a:noFill/>
              </a:ln>
              <a:effectLst/>
              <a:uLnTx/>
              <a:uFillTx/>
              <a:latin typeface="Times New Roman" panose="02020603050405020304" pitchFamily="18" charset="0"/>
              <a:cs typeface="Times New Roman" panose="02020603050405020304" pitchFamily="18" charset="0"/>
              <a:sym typeface="+mn-ea"/>
            </a:endParaRPr>
          </a:p>
          <a:p>
            <a:pPr marR="0" lvl="0" algn="just" defTabSz="914400" rtl="0" eaLnBrk="0" fontAlgn="base" latinLnBrk="0" hangingPunct="0">
              <a:lnSpc>
                <a:spcPct val="140000"/>
              </a:lnSpc>
              <a:spcBef>
                <a:spcPct val="0"/>
              </a:spcBef>
              <a:spcAft>
                <a:spcPct val="0"/>
              </a:spcAft>
              <a:buClrTx/>
              <a:buSzTx/>
              <a:defRPr/>
            </a:pPr>
            <a:r>
              <a:rPr lang="en-US" sz="2000" noProof="0" dirty="0">
                <a:ln>
                  <a:noFill/>
                </a:ln>
                <a:effectLst/>
                <a:uLnTx/>
                <a:uFillTx/>
                <a:latin typeface="Times New Roman" panose="02020603050405020304" pitchFamily="18" charset="0"/>
                <a:cs typeface="Times New Roman" panose="02020603050405020304" pitchFamily="18" charset="0"/>
                <a:sym typeface="+mn-ea"/>
              </a:rPr>
              <a:t>The company focuses on hands-on learning and skill development for engineers.</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just" defTabSz="914400" rtl="0" eaLnBrk="0" fontAlgn="base" latinLnBrk="0" hangingPunct="0">
              <a:lnSpc>
                <a:spcPct val="140000"/>
              </a:lnSpc>
              <a:spcBef>
                <a:spcPts val="1000"/>
              </a:spcBef>
              <a:spcAft>
                <a:spcPct val="0"/>
              </a:spcAft>
              <a:buClrTx/>
              <a:buSzTx/>
              <a:defRPr/>
            </a:pPr>
            <a:r>
              <a:rPr lang="en-US" sz="2000" noProof="0" dirty="0">
                <a:ln>
                  <a:noFill/>
                </a:ln>
                <a:effectLst/>
                <a:uLnTx/>
                <a:uFillTx/>
                <a:latin typeface="Times New Roman" panose="02020603050405020304" pitchFamily="18" charset="0"/>
                <a:cs typeface="Times New Roman" panose="02020603050405020304" pitchFamily="18" charset="0"/>
                <a:sym typeface="+mn-ea"/>
              </a:rPr>
              <a:t>Specializations</a:t>
            </a:r>
            <a:r>
              <a:rPr lang="en-US" sz="2000" b="1" noProof="0" dirty="0">
                <a:ln>
                  <a:noFill/>
                </a:ln>
                <a:effectLst/>
                <a:uLnTx/>
                <a:uFillTx/>
                <a:latin typeface="Times New Roman" panose="02020603050405020304" pitchFamily="18" charset="0"/>
                <a:cs typeface="Times New Roman" panose="02020603050405020304" pitchFamily="18" charset="0"/>
                <a:sym typeface="+mn-ea"/>
              </a:rPr>
              <a:t> </a:t>
            </a:r>
            <a:r>
              <a:rPr lang="en-US" sz="2000" noProof="0" dirty="0">
                <a:ln>
                  <a:noFill/>
                </a:ln>
                <a:effectLst/>
                <a:uLnTx/>
                <a:uFillTx/>
                <a:latin typeface="Times New Roman" panose="02020603050405020304" pitchFamily="18" charset="0"/>
                <a:cs typeface="Times New Roman" panose="02020603050405020304" pitchFamily="18" charset="0"/>
                <a:sym typeface="+mn-ea"/>
              </a:rPr>
              <a:t>are Business </a:t>
            </a:r>
            <a:r>
              <a:rPr lang="en-US" sz="2000" noProof="0" dirty="0" err="1">
                <a:ln>
                  <a:noFill/>
                </a:ln>
                <a:effectLst/>
                <a:uLnTx/>
                <a:uFillTx/>
                <a:latin typeface="Times New Roman" panose="02020603050405020304" pitchFamily="18" charset="0"/>
                <a:cs typeface="Times New Roman" panose="02020603050405020304" pitchFamily="18" charset="0"/>
                <a:sym typeface="+mn-ea"/>
              </a:rPr>
              <a:t>Analytics,Embedded</a:t>
            </a:r>
            <a:r>
              <a:rPr lang="en-US" sz="2000" noProof="0" dirty="0">
                <a:ln>
                  <a:noFill/>
                </a:ln>
                <a:effectLst/>
                <a:uLnTx/>
                <a:uFillTx/>
                <a:latin typeface="Times New Roman" panose="02020603050405020304" pitchFamily="18" charset="0"/>
                <a:cs typeface="Times New Roman" panose="02020603050405020304" pitchFamily="18" charset="0"/>
                <a:sym typeface="+mn-ea"/>
              </a:rPr>
              <a:t> Systems &amp; </a:t>
            </a:r>
            <a:r>
              <a:rPr lang="en-US" sz="2000" noProof="0" dirty="0" err="1">
                <a:ln>
                  <a:noFill/>
                </a:ln>
                <a:effectLst/>
                <a:uLnTx/>
                <a:uFillTx/>
                <a:latin typeface="Times New Roman" panose="02020603050405020304" pitchFamily="18" charset="0"/>
                <a:cs typeface="Times New Roman" panose="02020603050405020304" pitchFamily="18" charset="0"/>
                <a:sym typeface="+mn-ea"/>
              </a:rPr>
              <a:t>VLSI,Artificial</a:t>
            </a:r>
            <a:r>
              <a:rPr lang="en-US" sz="2000" noProof="0" dirty="0">
                <a:ln>
                  <a:noFill/>
                </a:ln>
                <a:effectLst/>
                <a:uLnTx/>
                <a:uFillTx/>
                <a:latin typeface="Times New Roman" panose="02020603050405020304" pitchFamily="18" charset="0"/>
                <a:cs typeface="Times New Roman" panose="02020603050405020304" pitchFamily="18" charset="0"/>
                <a:sym typeface="+mn-ea"/>
              </a:rPr>
              <a:t> Intelligence &amp; Machine </a:t>
            </a:r>
            <a:r>
              <a:rPr lang="en-US" sz="2000" noProof="0" dirty="0" err="1">
                <a:ln>
                  <a:noFill/>
                </a:ln>
                <a:effectLst/>
                <a:uLnTx/>
                <a:uFillTx/>
                <a:latin typeface="Times New Roman" panose="02020603050405020304" pitchFamily="18" charset="0"/>
                <a:cs typeface="Times New Roman" panose="02020603050405020304" pitchFamily="18" charset="0"/>
                <a:sym typeface="+mn-ea"/>
              </a:rPr>
              <a:t>Learning,Full</a:t>
            </a:r>
            <a:r>
              <a:rPr lang="en-US" sz="2000" noProof="0" dirty="0">
                <a:ln>
                  <a:noFill/>
                </a:ln>
                <a:effectLst/>
                <a:uLnTx/>
                <a:uFillTx/>
                <a:latin typeface="Times New Roman" panose="02020603050405020304" pitchFamily="18" charset="0"/>
                <a:cs typeface="Times New Roman" panose="02020603050405020304" pitchFamily="18" charset="0"/>
                <a:sym typeface="+mn-ea"/>
              </a:rPr>
              <a:t> Stack Java </a:t>
            </a:r>
            <a:r>
              <a:rPr lang="en-US" sz="2000" noProof="0" dirty="0" err="1">
                <a:ln>
                  <a:noFill/>
                </a:ln>
                <a:effectLst/>
                <a:uLnTx/>
                <a:uFillTx/>
                <a:latin typeface="Times New Roman" panose="02020603050405020304" pitchFamily="18" charset="0"/>
                <a:cs typeface="Times New Roman" panose="02020603050405020304" pitchFamily="18" charset="0"/>
                <a:sym typeface="+mn-ea"/>
              </a:rPr>
              <a:t>Development,Internet</a:t>
            </a:r>
            <a:r>
              <a:rPr lang="en-US" sz="2000" noProof="0" dirty="0">
                <a:ln>
                  <a:noFill/>
                </a:ln>
                <a:effectLst/>
                <a:uLnTx/>
                <a:uFillTx/>
                <a:latin typeface="Times New Roman" panose="02020603050405020304" pitchFamily="18" charset="0"/>
                <a:cs typeface="Times New Roman" panose="02020603050405020304" pitchFamily="18" charset="0"/>
                <a:sym typeface="+mn-ea"/>
              </a:rPr>
              <a:t> of Things (IoT).</a:t>
            </a:r>
            <a:endParaRPr kumimoji="0" 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just" defTabSz="914400" rtl="0" eaLnBrk="0" fontAlgn="base" latinLnBrk="0" hangingPunct="0">
              <a:lnSpc>
                <a:spcPct val="140000"/>
              </a:lnSpc>
              <a:spcBef>
                <a:spcPct val="0"/>
              </a:spcBef>
              <a:spcAft>
                <a:spcPct val="0"/>
              </a:spcAft>
              <a:buClrTx/>
              <a:buSzTx/>
              <a:defRPr/>
            </a:pPr>
            <a:r>
              <a:rPr lang="en-IN" sz="2000" noProof="0" dirty="0">
                <a:ln>
                  <a:noFill/>
                </a:ln>
                <a:effectLst/>
                <a:uLnTx/>
                <a:uFillTx/>
                <a:latin typeface="Times New Roman" panose="02020603050405020304" pitchFamily="18" charset="0"/>
                <a:cs typeface="Times New Roman" panose="02020603050405020304" pitchFamily="18" charset="0"/>
                <a:sym typeface="+mn-ea"/>
              </a:rPr>
              <a:t>Notable</a:t>
            </a:r>
            <a:r>
              <a:rPr lang="en-IN" sz="2000" b="1" noProof="0" dirty="0">
                <a:ln>
                  <a:noFill/>
                </a:ln>
                <a:effectLst/>
                <a:uLnTx/>
                <a:uFillTx/>
                <a:latin typeface="Times New Roman" panose="02020603050405020304" pitchFamily="18" charset="0"/>
                <a:cs typeface="Times New Roman" panose="02020603050405020304" pitchFamily="18" charset="0"/>
                <a:sym typeface="+mn-ea"/>
              </a:rPr>
              <a:t> </a:t>
            </a:r>
            <a:r>
              <a:rPr lang="en-IN" sz="2000" noProof="0" dirty="0">
                <a:ln>
                  <a:noFill/>
                </a:ln>
                <a:effectLst/>
                <a:uLnTx/>
                <a:uFillTx/>
                <a:latin typeface="Times New Roman" panose="02020603050405020304" pitchFamily="18" charset="0"/>
                <a:cs typeface="Times New Roman" panose="02020603050405020304" pitchFamily="18" charset="0"/>
                <a:sym typeface="+mn-ea"/>
              </a:rPr>
              <a:t>Recruiters are </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Deloitte,Mphasis,Toshiba Transmission &amp; Distribution </a:t>
            </a:r>
            <a:r>
              <a:rPr lang="en-US" altLang="en-US" sz="2000" noProof="0" dirty="0" err="1">
                <a:ln>
                  <a:noFill/>
                </a:ln>
                <a:effectLst/>
                <a:uLnTx/>
                <a:uFillTx/>
                <a:latin typeface="Times New Roman" panose="02020603050405020304" pitchFamily="18" charset="0"/>
                <a:cs typeface="Times New Roman" panose="02020603050405020304" pitchFamily="18" charset="0"/>
                <a:sym typeface="+mn-ea"/>
              </a:rPr>
              <a:t>Systems,Quikr,Zestl</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   Software Pvt </a:t>
            </a:r>
            <a:r>
              <a:rPr lang="en-US" altLang="en-US" sz="2000" noProof="0" dirty="0" err="1">
                <a:ln>
                  <a:noFill/>
                </a:ln>
                <a:effectLst/>
                <a:uLnTx/>
                <a:uFillTx/>
                <a:latin typeface="Times New Roman" panose="02020603050405020304" pitchFamily="18" charset="0"/>
                <a:cs typeface="Times New Roman" panose="02020603050405020304" pitchFamily="18" charset="0"/>
                <a:sym typeface="+mn-ea"/>
              </a:rPr>
              <a:t>Ltd,Kaypro</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 </a:t>
            </a:r>
            <a:r>
              <a:rPr lang="en-US" altLang="en-US" sz="2000" noProof="0" dirty="0" err="1">
                <a:ln>
                  <a:noFill/>
                </a:ln>
                <a:effectLst/>
                <a:uLnTx/>
                <a:uFillTx/>
                <a:latin typeface="Times New Roman" panose="02020603050405020304" pitchFamily="18" charset="0"/>
                <a:cs typeface="Times New Roman" panose="02020603050405020304" pitchFamily="18" charset="0"/>
                <a:sym typeface="+mn-ea"/>
              </a:rPr>
              <a:t>Technologies,Edvizo,Sun</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 Fine Papers Pvt </a:t>
            </a:r>
            <a:r>
              <a:rPr lang="en-US" altLang="en-US" sz="2000" noProof="0" dirty="0" err="1">
                <a:ln>
                  <a:noFill/>
                </a:ln>
                <a:effectLst/>
                <a:uLnTx/>
                <a:uFillTx/>
                <a:latin typeface="Times New Roman" panose="02020603050405020304" pitchFamily="18" charset="0"/>
                <a:cs typeface="Times New Roman" panose="02020603050405020304" pitchFamily="18" charset="0"/>
                <a:sym typeface="+mn-ea"/>
              </a:rPr>
              <a:t>Ltd,Terminal</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 </a:t>
            </a:r>
            <a:r>
              <a:rPr lang="en-US" altLang="en-US" sz="2000" noProof="0" dirty="0" err="1">
                <a:ln>
                  <a:noFill/>
                </a:ln>
                <a:effectLst/>
                <a:uLnTx/>
                <a:uFillTx/>
                <a:latin typeface="Times New Roman" panose="02020603050405020304" pitchFamily="18" charset="0"/>
                <a:cs typeface="Times New Roman" panose="02020603050405020304" pitchFamily="18" charset="0"/>
                <a:sym typeface="+mn-ea"/>
              </a:rPr>
              <a:t>Contacts,Isoftzone</a:t>
            </a:r>
            <a:r>
              <a:rPr lang="en-US" altLang="en-US" sz="2000" noProof="0" dirty="0">
                <a:ln>
                  <a:noFill/>
                </a:ln>
                <a:effectLst/>
                <a:uLnTx/>
                <a:uFillTx/>
                <a:latin typeface="Times New Roman" panose="02020603050405020304" pitchFamily="18" charset="0"/>
                <a:cs typeface="Times New Roman" panose="02020603050405020304" pitchFamily="18" charset="0"/>
                <a:sym typeface="+mn-ea"/>
              </a:rPr>
              <a:t> and many more.</a:t>
            </a:r>
            <a:endParaRPr kumimoji="0" lang="en-US"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R="0" lvl="0" algn="just" defTabSz="914400" rtl="0" eaLnBrk="0" fontAlgn="base" latinLnBrk="0" hangingPunct="0">
              <a:lnSpc>
                <a:spcPct val="140000"/>
              </a:lnSpc>
              <a:spcBef>
                <a:spcPct val="0"/>
              </a:spcBef>
              <a:spcAft>
                <a:spcPct val="0"/>
              </a:spcAft>
              <a:buClrTx/>
              <a:buSzTx/>
              <a:defRPr/>
            </a:pPr>
            <a:r>
              <a:rPr lang="en-US" sz="2000" noProof="0" dirty="0">
                <a:ln>
                  <a:noFill/>
                </a:ln>
                <a:effectLst/>
                <a:uLnTx/>
                <a:uFillTx/>
                <a:latin typeface="Times New Roman" panose="02020603050405020304" pitchFamily="18" charset="0"/>
                <a:cs typeface="Times New Roman" panose="02020603050405020304" pitchFamily="18" charset="0"/>
                <a:sym typeface="+mn-ea"/>
              </a:rPr>
              <a:t>Cranes Varsity is known for innovative teaching methods, blending theory with practical learning.</a:t>
            </a:r>
            <a:endParaRPr lang="en-US" altLang="en-US" sz="2000" noProof="0" dirty="0">
              <a:ln>
                <a:noFill/>
              </a:ln>
              <a:effectLst/>
              <a:uLnTx/>
              <a:uFillTx/>
              <a:latin typeface="Times New Roman" panose="02020603050405020304" pitchFamily="18" charset="0"/>
              <a:cs typeface="Times New Roman" panose="02020603050405020304" pitchFamily="18" charset="0"/>
              <a:sym typeface="+mn-ea"/>
            </a:endParaRPr>
          </a:p>
        </p:txBody>
      </p:sp>
      <p:sp>
        <p:nvSpPr>
          <p:cNvPr id="5" name="Slide Number Placeholder 4"/>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9" name="Picture 8"/>
          <p:cNvPicPr/>
          <p:nvPr/>
        </p:nvPicPr>
        <p:blipFill>
          <a:blip r:embed="rId1"/>
          <a:stretch>
            <a:fillRect/>
          </a:stretch>
        </p:blipFill>
        <p:spPr>
          <a:xfrm>
            <a:off x="7406640" y="255270"/>
            <a:ext cx="4044950" cy="1097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563880" y="294005"/>
            <a:ext cx="10515600" cy="1012190"/>
          </a:xfrm>
        </p:spPr>
        <p:txBody>
          <a:bodyPr vert="horz" wrap="square" lIns="91440" tIns="45720" rIns="91440" bIns="45720" anchor="ctr" anchorCtr="0"/>
          <a:p>
            <a:r>
              <a:rPr lang="en-US" altLang="en-IN"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Internship stream-VLSI</a:t>
            </a:r>
            <a:endParaRPr lang="en-US" altLang="en-IN"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endParaRPr>
          </a:p>
        </p:txBody>
      </p:sp>
      <p:sp>
        <p:nvSpPr>
          <p:cNvPr id="7171" name="Content Placeholder 2"/>
          <p:cNvSpPr>
            <a:spLocks noGrp="1"/>
          </p:cNvSpPr>
          <p:nvPr>
            <p:ph idx="1"/>
          </p:nvPr>
        </p:nvSpPr>
        <p:spPr>
          <a:xfrm>
            <a:off x="563880" y="1377950"/>
            <a:ext cx="10861040" cy="4664710"/>
          </a:xfrm>
        </p:spPr>
        <p:txBody>
          <a:bodyPr vert="horz" wrap="square" lIns="91440" tIns="45720" rIns="91440" bIns="45720" anchor="t" anchorCtr="0"/>
          <a:p>
            <a:pPr marL="0" indent="0" algn="just">
              <a:lnSpc>
                <a:spcPct val="110000"/>
              </a:lnSpc>
              <a:buNone/>
            </a:pPr>
            <a:r>
              <a:rPr lang="en-US" altLang="en-US" sz="1950" dirty="0">
                <a:latin typeface="Times New Roman" panose="02020603050405020304" pitchFamily="18" charset="0"/>
                <a:cs typeface="Times New Roman" panose="02020603050405020304" pitchFamily="18" charset="0"/>
              </a:rPr>
              <a:t>VLSI (Very Large Scale Integration) department at Cranes Varsity provides comprehensive training on the entire chip design and verification lifecycle. The curriculum is focused on building industry-ready skills in critical areas.</a:t>
            </a:r>
            <a:endParaRPr lang="en-US" altLang="en-US" sz="1950" dirty="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1950" b="1" dirty="0">
                <a:latin typeface="Times New Roman" panose="02020603050405020304" pitchFamily="18" charset="0"/>
                <a:cs typeface="Times New Roman" panose="02020603050405020304" pitchFamily="18" charset="0"/>
              </a:rPr>
              <a:t>Key Learnings:</a:t>
            </a:r>
            <a:endParaRPr lang="en-US" altLang="en-US" sz="1950" b="1"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Gained hands-on training in SystemVerilog programming for digital design &amp; verification.</a:t>
            </a:r>
            <a:endParaRPr lang="en-IN" altLang="en-US" sz="1950"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Learned Finite State Machines (FSM) design and implementation for sequential circuits.</a:t>
            </a:r>
            <a:endParaRPr lang="en-IN" altLang="en-US" sz="1950"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Explored Event data type for synchronization in testbenches.</a:t>
            </a:r>
            <a:endParaRPr lang="en-IN" altLang="en-US" sz="1950"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Worked with String &amp; Enum data types for efficient coding and readability.</a:t>
            </a:r>
            <a:endParaRPr lang="en-IN" altLang="en-US" sz="1950"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Practiced usage of Static &amp; Dynamic Arrays for flexible data handling.</a:t>
            </a:r>
            <a:endParaRPr lang="en-IN" altLang="en-US" sz="1950" dirty="0">
              <a:latin typeface="Times New Roman" panose="02020603050405020304" pitchFamily="18" charset="0"/>
              <a:cs typeface="Times New Roman" panose="02020603050405020304" pitchFamily="18" charset="0"/>
            </a:endParaRPr>
          </a:p>
          <a:p>
            <a:pPr algn="just"/>
            <a:r>
              <a:rPr lang="en-IN" altLang="en-US" sz="1950" dirty="0">
                <a:latin typeface="Times New Roman" panose="02020603050405020304" pitchFamily="18" charset="0"/>
                <a:cs typeface="Times New Roman" panose="02020603050405020304" pitchFamily="18" charset="0"/>
                <a:sym typeface="+mn-ea"/>
              </a:rPr>
              <a:t>Focus on industry-oriented VLSI design concepts with practical applications.</a:t>
            </a:r>
            <a:endParaRPr lang="en-IN" altLang="en-US" sz="1950" dirty="0">
              <a:latin typeface="Times New Roman" panose="02020603050405020304" pitchFamily="18" charset="0"/>
              <a:cs typeface="Times New Roman" panose="02020603050405020304" pitchFamily="18" charset="0"/>
            </a:endParaRPr>
          </a:p>
          <a:p>
            <a:pPr algn="just"/>
            <a:endParaRPr lang="en-IN" altLang="en-US" sz="1950" dirty="0">
              <a:latin typeface="Times New Roman" panose="02020603050405020304" pitchFamily="18" charset="0"/>
              <a:ea typeface="Times New Roman" panose="02020603050405020304" pitchFamily="18" charset="0"/>
            </a:endParaRPr>
          </a:p>
          <a:p>
            <a:pPr algn="just">
              <a:lnSpc>
                <a:spcPct val="110000"/>
              </a:lnSpc>
            </a:pPr>
            <a:endParaRPr lang="en-US" altLang="en-US" sz="1950" dirty="0">
              <a:latin typeface="Times New Roman" panose="02020603050405020304" pitchFamily="18" charset="0"/>
              <a:cs typeface="Times New Roman" panose="02020603050405020304" pitchFamily="18" charset="0"/>
            </a:endParaRPr>
          </a:p>
        </p:txBody>
      </p:sp>
      <p:sp>
        <p:nvSpPr>
          <p:cNvPr id="4" name="Footer Placeholder 3"/>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5" name="Slide Number Placeholder 4"/>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325563"/>
          </a:xfrm>
        </p:spPr>
        <p:txBody>
          <a:bodyPr/>
          <a:p>
            <a:r>
              <a:rPr lang="en-IN" alt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O</a:t>
            </a:r>
            <a:r>
              <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bjective</a:t>
            </a:r>
            <a:endPar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endParaRPr>
          </a:p>
        </p:txBody>
      </p:sp>
      <p:sp>
        <p:nvSpPr>
          <p:cNvPr id="3" name="Content Placeholder 2"/>
          <p:cNvSpPr>
            <a:spLocks noGrp="1"/>
          </p:cNvSpPr>
          <p:nvPr>
            <p:ph idx="1"/>
          </p:nvPr>
        </p:nvSpPr>
        <p:spPr>
          <a:xfrm>
            <a:off x="838200" y="1622425"/>
            <a:ext cx="10515600" cy="4554855"/>
          </a:xfrm>
        </p:spPr>
        <p:txBody>
          <a:bodyPr/>
          <a:p>
            <a:pPr algn="just">
              <a:lnSpc>
                <a:spcPct val="14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design a secure two-factor authentication (2FA) digital lock system.</a:t>
            </a:r>
            <a:endParaRPr lang="en-US" altLang="en-US" sz="2000">
              <a:latin typeface="Times New Roman" panose="02020603050405020304" pitchFamily="18" charset="0"/>
              <a:cs typeface="Times New Roman" panose="02020603050405020304" pitchFamily="18" charset="0"/>
            </a:endParaRPr>
          </a:p>
          <a:p>
            <a:pPr algn="just">
              <a:lnSpc>
                <a:spcPct val="14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utilize a Finite State Machine (FSM) as the core controller to manage the lock's different operational states.</a:t>
            </a:r>
            <a:endParaRPr lang="en-US" altLang="en-US" sz="2000">
              <a:latin typeface="Times New Roman" panose="02020603050405020304" pitchFamily="18" charset="0"/>
              <a:cs typeface="Times New Roman" panose="02020603050405020304" pitchFamily="18" charset="0"/>
            </a:endParaRPr>
          </a:p>
          <a:p>
            <a:pPr algn="just">
              <a:lnSpc>
                <a:spcPct val="140000"/>
              </a:lnSpc>
              <a:buFont typeface="Arial" panose="020B0604020202020204" pitchFamily="34" charset="0"/>
              <a:buChar char="•"/>
            </a:pPr>
            <a:r>
              <a:rPr lang="en-US" altLang="en-US" sz="2000">
                <a:latin typeface="Times New Roman" panose="02020603050405020304" pitchFamily="18" charset="0"/>
                <a:cs typeface="Times New Roman" panose="02020603050405020304" pitchFamily="18" charset="0"/>
              </a:rPr>
              <a:t>To create a comprehensive testbench to simulate and verify the design's functionality under various conditions.</a:t>
            </a:r>
            <a:endParaRPr lang="en-US" altLang="en-US" sz="2000">
              <a:latin typeface="Times New Roman" panose="02020603050405020304" pitchFamily="18" charset="0"/>
              <a:cs typeface="Times New Roman" panose="02020603050405020304" pitchFamily="18" charset="0"/>
            </a:endParaRPr>
          </a:p>
          <a:p>
            <a:pPr algn="just">
              <a:lnSpc>
                <a:spcPct val="140000"/>
              </a:lnSpc>
              <a:buFont typeface="Arial" panose="020B0604020202020204" pitchFamily="34" charset="0"/>
              <a:buChar char="•"/>
            </a:pP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S</a:t>
            </a:r>
            <a:r>
              <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cope</a:t>
            </a:r>
            <a:endPar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endParaRPr>
          </a:p>
        </p:txBody>
      </p:sp>
      <p:sp>
        <p:nvSpPr>
          <p:cNvPr id="3" name="Content Placeholder 2"/>
          <p:cNvSpPr>
            <a:spLocks noGrp="1"/>
          </p:cNvSpPr>
          <p:nvPr>
            <p:ph idx="1"/>
          </p:nvPr>
        </p:nvSpPr>
        <p:spPr>
          <a:xfrm>
            <a:off x="838200" y="1582420"/>
            <a:ext cx="10515600" cy="4594860"/>
          </a:xfrm>
        </p:spPr>
        <p:txBody>
          <a:bodyPr/>
          <a:p>
            <a:pPr algn="just">
              <a:lnSpc>
                <a:spcPct val="120000"/>
              </a:lnSpc>
            </a:pPr>
            <a:r>
              <a:rPr lang="en-US" altLang="en-US" sz="2000">
                <a:latin typeface="Times New Roman" panose="02020603050405020304" pitchFamily="18" charset="0"/>
                <a:cs typeface="Times New Roman" panose="02020603050405020304" pitchFamily="18" charset="0"/>
              </a:rPr>
              <a:t>The core digital logic for validating a static password followed by a One-Time Password (OTP).</a:t>
            </a:r>
            <a:endParaRPr lang="en-US" altLang="en-US" sz="2000">
              <a:latin typeface="Times New Roman" panose="02020603050405020304" pitchFamily="18" charset="0"/>
              <a:cs typeface="Times New Roman" panose="02020603050405020304" pitchFamily="18" charset="0"/>
            </a:endParaRPr>
          </a:p>
          <a:p>
            <a:pPr algn="just">
              <a:lnSpc>
                <a:spcPct val="120000"/>
              </a:lnSpc>
            </a:pPr>
            <a:r>
              <a:rPr lang="en-US" altLang="en-US" sz="2000">
                <a:latin typeface="Times New Roman" panose="02020603050405020304" pitchFamily="18" charset="0"/>
                <a:cs typeface="Times New Roman" panose="02020603050405020304" pitchFamily="18" charset="0"/>
              </a:rPr>
              <a:t>A three-state FSM controller (LOCKED, PWD_OK, UNLOCKED).</a:t>
            </a:r>
            <a:endParaRPr lang="en-US" altLang="en-US" sz="2000">
              <a:latin typeface="Times New Roman" panose="02020603050405020304" pitchFamily="18" charset="0"/>
              <a:cs typeface="Times New Roman" panose="02020603050405020304" pitchFamily="18" charset="0"/>
            </a:endParaRPr>
          </a:p>
          <a:p>
            <a:pPr algn="just">
              <a:lnSpc>
                <a:spcPct val="120000"/>
              </a:lnSpc>
            </a:pPr>
            <a:r>
              <a:rPr lang="en-US" altLang="en-US" sz="2000">
                <a:latin typeface="Times New Roman" panose="02020603050405020304" pitchFamily="18" charset="0"/>
                <a:cs typeface="Times New Roman" panose="02020603050405020304" pitchFamily="18" charset="0"/>
              </a:rPr>
              <a:t>Simulation of successful unlocking, incorrect password attempts, and incorrect OTP attempts.</a:t>
            </a:r>
            <a:br>
              <a:rPr lang="en-US" altLang="en-US" sz="2000">
                <a:latin typeface="Times New Roman" panose="02020603050405020304" pitchFamily="18" charset="0"/>
                <a:cs typeface="Times New Roman" panose="02020603050405020304" pitchFamily="18" charset="0"/>
              </a:rPr>
            </a:br>
            <a:endParaRPr lang="en-US" altLang="en-US" sz="2000">
              <a:latin typeface="Times New Roman" panose="02020603050405020304" pitchFamily="18" charset="0"/>
              <a:cs typeface="Times New Roman" panose="02020603050405020304" pitchFamily="18" charset="0"/>
            </a:endParaRPr>
          </a:p>
          <a:p>
            <a:pPr marL="0" indent="0" algn="just">
              <a:lnSpc>
                <a:spcPct val="120000"/>
              </a:lnSpc>
              <a:buNone/>
            </a:pP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1060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31165" y="100330"/>
            <a:ext cx="10515600" cy="1325563"/>
          </a:xfrm>
        </p:spPr>
        <p:txBody>
          <a:bodyPr/>
          <a:p>
            <a:r>
              <a:rPr lang="en-IN" altLang="en-US" b="1">
                <a:solidFill>
                  <a:srgbClr val="7030A0"/>
                </a:solidFill>
                <a:latin typeface="Times New Roman" panose="02020603050405020304" pitchFamily="18" charset="0"/>
                <a:cs typeface="Times New Roman" panose="02020603050405020304" pitchFamily="18" charset="0"/>
              </a:rPr>
              <a:t>Methodology</a:t>
            </a:r>
            <a:endParaRPr lang="en-IN" altLang="en-US" b="1">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4365" y="1286510"/>
            <a:ext cx="10515600" cy="5069840"/>
          </a:xfrm>
        </p:spPr>
        <p:txBody>
          <a:bodyPr/>
          <a:p>
            <a:pPr marL="0" indent="0" algn="just">
              <a:lnSpc>
                <a:spcPct val="100000"/>
              </a:lnSpc>
              <a:buNone/>
            </a:pPr>
            <a:r>
              <a:rPr lang="en-US" altLang="en-US" sz="2000">
                <a:latin typeface="Times New Roman" panose="02020603050405020304" pitchFamily="18" charset="0"/>
                <a:cs typeface="Times New Roman" panose="02020603050405020304" pitchFamily="18" charset="0"/>
              </a:rPr>
              <a:t>The system models a modern 2-step verification lock, enhancing security over a single password.</a:t>
            </a:r>
            <a:endParaRPr lang="en-US" altLang="en-US" sz="2000">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Step 1: Password Authentication</a:t>
            </a:r>
            <a:endParaRPr lang="en-US" altLang="en-US" sz="2000" b="1">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rPr>
              <a:t>The user must first enter a pre-set 4-bit password.</a:t>
            </a:r>
            <a:endParaRPr lang="en-US" altLang="en-US" sz="2000">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rPr>
              <a:t>If correct, the system transitions to an intermediate state, ready for the next step.</a:t>
            </a:r>
            <a:endParaRPr lang="en-US" altLang="en-US" sz="2000">
              <a:latin typeface="Times New Roman" panose="02020603050405020304" pitchFamily="18" charset="0"/>
              <a:cs typeface="Times New Roman" panose="02020603050405020304" pitchFamily="18" charset="0"/>
            </a:endParaRPr>
          </a:p>
          <a:p>
            <a:pPr algn="just">
              <a:lnSpc>
                <a:spcPct val="100000"/>
              </a:lnSpc>
            </a:pPr>
            <a:endParaRPr lang="en-US" altLang="en-US" sz="2000">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Step 2: OTP Verification</a:t>
            </a:r>
            <a:endParaRPr lang="en-US" altLang="en-US" sz="2000" b="1">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rPr>
              <a:t>The system simulates "sending" an OTP by asserting the otp_send signal.</a:t>
            </a:r>
            <a:endParaRPr lang="en-US" altLang="en-US" sz="2000">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rPr>
              <a:t>The user then enters the corresponding 4-bit OTP.</a:t>
            </a:r>
            <a:endParaRPr lang="en-US" altLang="en-US" sz="2000">
              <a:latin typeface="Times New Roman" panose="02020603050405020304" pitchFamily="18" charset="0"/>
              <a:cs typeface="Times New Roman" panose="02020603050405020304" pitchFamily="18" charset="0"/>
            </a:endParaRPr>
          </a:p>
          <a:p>
            <a:pPr algn="just">
              <a:lnSpc>
                <a:spcPct val="100000"/>
              </a:lnSpc>
            </a:pPr>
            <a:endParaRPr lang="en-US" altLang="en-US" sz="2000">
              <a:latin typeface="Times New Roman" panose="02020603050405020304" pitchFamily="18" charset="0"/>
              <a:cs typeface="Times New Roman" panose="02020603050405020304" pitchFamily="18" charset="0"/>
            </a:endParaRPr>
          </a:p>
          <a:p>
            <a:pPr algn="just">
              <a:lnSpc>
                <a:spcPct val="100000"/>
              </a:lnSpc>
              <a:buFont typeface="Wingdings" panose="05000000000000000000" charset="0"/>
              <a:buChar char="Ø"/>
            </a:pPr>
            <a:r>
              <a:rPr lang="en-US" altLang="en-US" sz="2000" b="1">
                <a:latin typeface="Times New Roman" panose="02020603050405020304" pitchFamily="18" charset="0"/>
                <a:cs typeface="Times New Roman" panose="02020603050405020304" pitchFamily="18" charset="0"/>
              </a:rPr>
              <a:t>Unlocking Mechanism</a:t>
            </a:r>
            <a:endParaRPr lang="en-US" altLang="en-US" sz="2000" b="1">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rPr>
              <a:t>Only when both credentials are provided correctly and in sequence does the lock_status output switch from 1 (Locked) to 0 (Unlocked).</a:t>
            </a: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67080" y="365125"/>
            <a:ext cx="10515600" cy="1325563"/>
          </a:xfrm>
        </p:spPr>
        <p:txBody>
          <a:bodyPr/>
          <a:p>
            <a:r>
              <a:rPr lang="en-US" b="1">
                <a:solidFill>
                  <a:srgbClr val="7030A0"/>
                </a:solidFill>
                <a:latin typeface="Times New Roman" panose="02020603050405020304" pitchFamily="18" charset="0"/>
                <a:cs typeface="Times New Roman" panose="02020603050405020304" pitchFamily="18" charset="0"/>
              </a:rPr>
              <a:t>Block diagram</a:t>
            </a:r>
            <a:endParaRPr lang="en-US" b="1">
              <a:solidFill>
                <a:srgbClr val="7030A0"/>
              </a:solidFill>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2076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4836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pic>
        <p:nvPicPr>
          <p:cNvPr id="4" name="Picture 3" descr="Gemini_Generated_Image_ezjy2gezjy2gezjy"/>
          <p:cNvPicPr>
            <a:picLocks noChangeAspect="1"/>
          </p:cNvPicPr>
          <p:nvPr/>
        </p:nvPicPr>
        <p:blipFill>
          <a:blip r:embed="rId1"/>
          <a:srcRect t="11269" b="28796"/>
          <a:stretch>
            <a:fillRect/>
          </a:stretch>
        </p:blipFill>
        <p:spPr>
          <a:xfrm>
            <a:off x="2514600" y="1691005"/>
            <a:ext cx="7447280" cy="41103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63880" y="729615"/>
            <a:ext cx="10515600" cy="5398770"/>
          </a:xfrm>
        </p:spPr>
        <p:txBody>
          <a:bodyPr/>
          <a:p>
            <a:pPr marL="514350" indent="-514350" algn="just">
              <a:lnSpc>
                <a:spcPct val="80000"/>
              </a:lnSpc>
              <a:buFont typeface="+mj-lt"/>
              <a:buAutoNum type="arabicPeriod"/>
            </a:pPr>
            <a:r>
              <a:rPr lang="en-US" altLang="en-US" sz="2000" b="1">
                <a:latin typeface="Times New Roman" panose="02020603050405020304" pitchFamily="18" charset="0"/>
                <a:cs typeface="Times New Roman" panose="02020603050405020304" pitchFamily="18" charset="0"/>
                <a:sym typeface="+mn-ea"/>
              </a:rPr>
              <a:t>Design in Verilog</a:t>
            </a:r>
            <a:endParaRPr lang="en-US" altLang="en-US" sz="2000" b="1">
              <a:latin typeface="Times New Roman" panose="02020603050405020304" pitchFamily="18" charset="0"/>
              <a:cs typeface="Times New Roman" panose="02020603050405020304" pitchFamily="18" charset="0"/>
            </a:endParaRPr>
          </a:p>
          <a:p>
            <a:pPr algn="just">
              <a:lnSpc>
                <a:spcPct val="80000"/>
              </a:lnSpc>
            </a:pPr>
            <a:r>
              <a:rPr lang="en-US" altLang="en-US" sz="2000">
                <a:latin typeface="Times New Roman" panose="02020603050405020304" pitchFamily="18" charset="0"/>
                <a:cs typeface="Times New Roman" panose="02020603050405020304" pitchFamily="18" charset="0"/>
                <a:sym typeface="+mn-ea"/>
              </a:rPr>
              <a:t>A behavioral model of the lock was created, centered around the three-state FSM. The logic for state transitions and outputs was defined in an always block.</a:t>
            </a:r>
            <a:endParaRPr lang="en-US" altLang="en-US" sz="2000">
              <a:latin typeface="Times New Roman" panose="02020603050405020304" pitchFamily="18" charset="0"/>
              <a:cs typeface="Times New Roman" panose="02020603050405020304" pitchFamily="18" charset="0"/>
              <a:sym typeface="+mn-ea"/>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marL="514350" indent="-514350" algn="just">
              <a:lnSpc>
                <a:spcPct val="80000"/>
              </a:lnSpc>
              <a:buFont typeface="+mj-lt"/>
              <a:buAutoNum type="arabicPeriod" startAt="2"/>
            </a:pPr>
            <a:r>
              <a:rPr lang="en-US" altLang="en-US" sz="2000" b="1">
                <a:latin typeface="Times New Roman" panose="02020603050405020304" pitchFamily="18" charset="0"/>
                <a:cs typeface="Times New Roman" panose="02020603050405020304" pitchFamily="18" charset="0"/>
                <a:sym typeface="+mn-ea"/>
              </a:rPr>
              <a:t>Testbench Creation</a:t>
            </a:r>
            <a:endParaRPr lang="en-US" altLang="en-US" sz="2000" b="1">
              <a:latin typeface="Times New Roman" panose="02020603050405020304" pitchFamily="18" charset="0"/>
              <a:cs typeface="Times New Roman" panose="02020603050405020304" pitchFamily="18" charset="0"/>
            </a:endParaRPr>
          </a:p>
          <a:p>
            <a:pPr algn="just">
              <a:lnSpc>
                <a:spcPct val="80000"/>
              </a:lnSpc>
            </a:pPr>
            <a:r>
              <a:rPr lang="en-US" altLang="en-US" sz="2000">
                <a:latin typeface="Times New Roman" panose="02020603050405020304" pitchFamily="18" charset="0"/>
                <a:cs typeface="Times New Roman" panose="02020603050405020304" pitchFamily="18" charset="0"/>
                <a:sym typeface="+mn-ea"/>
              </a:rPr>
              <a:t>A dedicated Verilog testbench module was written to instantiate the design and generate the necessary clock and input signals.</a:t>
            </a:r>
            <a:endParaRPr lang="en-US" altLang="en-US" sz="2000">
              <a:latin typeface="Times New Roman" panose="02020603050405020304" pitchFamily="18" charset="0"/>
              <a:cs typeface="Times New Roman" panose="02020603050405020304" pitchFamily="18" charset="0"/>
              <a:sym typeface="+mn-ea"/>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marL="457200" indent="-457200" algn="just">
              <a:lnSpc>
                <a:spcPct val="80000"/>
              </a:lnSpc>
              <a:buFont typeface="+mj-lt"/>
              <a:buAutoNum type="arabicPeriod" startAt="3"/>
            </a:pPr>
            <a:r>
              <a:rPr lang="en-US" altLang="en-US" sz="2000" b="1">
                <a:latin typeface="Times New Roman" panose="02020603050405020304" pitchFamily="18" charset="0"/>
                <a:cs typeface="Times New Roman" panose="02020603050405020304" pitchFamily="18" charset="0"/>
                <a:sym typeface="+mn-ea"/>
              </a:rPr>
              <a:t>Simulation Scenarios</a:t>
            </a:r>
            <a:endParaRPr lang="en-US" altLang="en-US" sz="2000">
              <a:latin typeface="Times New Roman" panose="02020603050405020304" pitchFamily="18" charset="0"/>
              <a:cs typeface="Times New Roman" panose="02020603050405020304" pitchFamily="18" charset="0"/>
            </a:endParaRPr>
          </a:p>
          <a:p>
            <a:pPr algn="just">
              <a:lnSpc>
                <a:spcPct val="80000"/>
              </a:lnSpc>
            </a:pPr>
            <a:r>
              <a:rPr lang="en-US" altLang="en-US" sz="2000">
                <a:latin typeface="Times New Roman" panose="02020603050405020304" pitchFamily="18" charset="0"/>
                <a:cs typeface="Times New Roman" panose="02020603050405020304" pitchFamily="18" charset="0"/>
                <a:sym typeface="+mn-ea"/>
              </a:rPr>
              <a:t>The testbench was programmed to apply a realistic sequence of stimuli to rigorously test the design for System reset,An correct/incorrect password attempt,A final correct OTP attempt.</a:t>
            </a:r>
            <a:endParaRPr lang="en-US" altLang="en-US" sz="2000">
              <a:latin typeface="Times New Roman" panose="02020603050405020304" pitchFamily="18" charset="0"/>
              <a:cs typeface="Times New Roman" panose="02020603050405020304" pitchFamily="18" charset="0"/>
              <a:sym typeface="+mn-ea"/>
            </a:endParaRPr>
          </a:p>
          <a:p>
            <a:pPr algn="just">
              <a:lnSpc>
                <a:spcPct val="80000"/>
              </a:lnSpc>
            </a:pPr>
            <a:endParaRPr lang="en-US" altLang="en-US" sz="2000">
              <a:latin typeface="Times New Roman" panose="02020603050405020304" pitchFamily="18" charset="0"/>
              <a:cs typeface="Times New Roman" panose="02020603050405020304" pitchFamily="18" charset="0"/>
            </a:endParaRPr>
          </a:p>
          <a:p>
            <a:pPr marL="457200" indent="-457200" algn="just">
              <a:lnSpc>
                <a:spcPct val="80000"/>
              </a:lnSpc>
              <a:buFont typeface="+mj-lt"/>
              <a:buAutoNum type="arabicPeriod" startAt="4"/>
            </a:pPr>
            <a:r>
              <a:rPr lang="en-US" altLang="en-US" sz="2000" b="1">
                <a:latin typeface="Times New Roman" panose="02020603050405020304" pitchFamily="18" charset="0"/>
                <a:cs typeface="Times New Roman" panose="02020603050405020304" pitchFamily="18" charset="0"/>
              </a:rPr>
              <a:t>Verification &amp; Analysis</a:t>
            </a:r>
            <a:endParaRPr lang="en-US" altLang="en-US" sz="2000">
              <a:latin typeface="Times New Roman" panose="02020603050405020304" pitchFamily="18" charset="0"/>
              <a:cs typeface="Times New Roman" panose="02020603050405020304" pitchFamily="18" charset="0"/>
            </a:endParaRPr>
          </a:p>
          <a:p>
            <a:pPr algn="just">
              <a:lnSpc>
                <a:spcPct val="80000"/>
              </a:lnSpc>
            </a:pPr>
            <a:r>
              <a:rPr lang="en-US" altLang="en-US" sz="2000">
                <a:latin typeface="Times New Roman" panose="02020603050405020304" pitchFamily="18" charset="0"/>
                <a:cs typeface="Times New Roman" panose="02020603050405020304" pitchFamily="18" charset="0"/>
              </a:rPr>
              <a:t>The code was compiled and simulated using EDA Playground. The resulting digital waveform and console logs were carefully analyzed to confirm that the circuit behaved exactly as intended.</a:t>
            </a: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1060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Results</a:t>
            </a:r>
            <a:endParaRPr lang="en-US"/>
          </a:p>
        </p:txBody>
      </p:sp>
      <p:sp>
        <p:nvSpPr>
          <p:cNvPr id="3" name="Content Placeholder 2"/>
          <p:cNvSpPr>
            <a:spLocks noGrp="1"/>
          </p:cNvSpPr>
          <p:nvPr>
            <p:ph idx="1"/>
          </p:nvPr>
        </p:nvSpPr>
        <p:spPr>
          <a:xfrm>
            <a:off x="838200" y="1825625"/>
            <a:ext cx="10719435" cy="4530725"/>
          </a:xfrm>
        </p:spPr>
        <p:txBody>
          <a:bodyPr/>
          <a:p>
            <a:pPr algn="just">
              <a:lnSpc>
                <a:spcPct val="110000"/>
              </a:lnSpc>
            </a:pPr>
            <a:r>
              <a:rPr lang="en-US" altLang="en-US" sz="2000">
                <a:latin typeface="Times New Roman" panose="02020603050405020304" pitchFamily="18" charset="0"/>
                <a:cs typeface="Times New Roman" panose="02020603050405020304" pitchFamily="18" charset="0"/>
              </a:rPr>
              <a:t>The simulation successfully verified the complete functionality of the digital lock system. </a:t>
            </a:r>
            <a:endParaRPr lang="en-US" altLang="en-US" sz="2000">
              <a:latin typeface="Times New Roman" panose="02020603050405020304" pitchFamily="18" charset="0"/>
              <a:cs typeface="Times New Roman" panose="02020603050405020304" pitchFamily="18" charset="0"/>
            </a:endParaRPr>
          </a:p>
          <a:p>
            <a:pPr algn="just">
              <a:lnSpc>
                <a:spcPct val="110000"/>
              </a:lnSpc>
            </a:pPr>
            <a:r>
              <a:rPr lang="en-US" altLang="en-US" sz="2000">
                <a:latin typeface="Times New Roman" panose="02020603050405020304" pitchFamily="18" charset="0"/>
                <a:cs typeface="Times New Roman" panose="02020603050405020304" pitchFamily="18" charset="0"/>
              </a:rPr>
              <a:t>The output waveform clearly demonstrates that:</a:t>
            </a:r>
            <a:endParaRPr lang="en-US" altLang="en-US" sz="2000">
              <a:latin typeface="Times New Roman" panose="02020603050405020304" pitchFamily="18" charset="0"/>
              <a:cs typeface="Times New Roman" panose="02020603050405020304" pitchFamily="18" charset="0"/>
            </a:endParaRPr>
          </a:p>
          <a:p>
            <a:pPr marL="0" indent="0" algn="just">
              <a:lnSpc>
                <a:spcPct val="110000"/>
              </a:lnSpc>
              <a:buNone/>
            </a:pPr>
            <a:r>
              <a:rPr lang="en-IN" altLang="en-US" sz="2000">
                <a:latin typeface="Times New Roman" panose="02020603050405020304" pitchFamily="18" charset="0"/>
                <a:cs typeface="Times New Roman" panose="02020603050405020304" pitchFamily="18" charset="0"/>
              </a:rPr>
              <a:t>     </a:t>
            </a:r>
            <a:r>
              <a:rPr lang="en-US" altLang="en-US" sz="2000">
                <a:latin typeface="Times New Roman" panose="02020603050405020304" pitchFamily="18" charset="0"/>
                <a:cs typeface="Times New Roman" panose="02020603050405020304" pitchFamily="18" charset="0"/>
              </a:rPr>
              <a:t>The lock remains secure (lock_status = 1) when incorrect passwords or OTPs are entered.</a:t>
            </a:r>
            <a:endParaRPr lang="en-US" altLang="en-US" sz="2000">
              <a:latin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a:latin typeface="Times New Roman" panose="02020603050405020304" pitchFamily="18" charset="0"/>
                <a:cs typeface="Times New Roman" panose="02020603050405020304" pitchFamily="18" charset="0"/>
              </a:rPr>
              <a:t>     The lock_status transitions to 0 (Unlocked) only after the entire correct sequence is completed.</a:t>
            </a:r>
            <a:endParaRPr lang="en-US" altLang="en-US" sz="2000">
              <a:latin typeface="Times New Roman" panose="02020603050405020304" pitchFamily="18" charset="0"/>
              <a:cs typeface="Times New Roman" panose="02020603050405020304" pitchFamily="18" charset="0"/>
            </a:endParaRPr>
          </a:p>
          <a:p>
            <a:pPr algn="just">
              <a:lnSpc>
                <a:spcPct val="110000"/>
              </a:lnSpc>
            </a:pPr>
            <a:r>
              <a:rPr lang="en-US" altLang="en-US" sz="2000">
                <a:latin typeface="Times New Roman" panose="02020603050405020304" pitchFamily="18" charset="0"/>
                <a:cs typeface="Times New Roman" panose="02020603050405020304" pitchFamily="18" charset="0"/>
              </a:rPr>
              <a:t>The system is proven to be robust and functions precisely as per the initial design objectives</a:t>
            </a: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1060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3820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5-08-20 002615"/>
          <p:cNvPicPr>
            <a:picLocks noChangeAspect="1"/>
          </p:cNvPicPr>
          <p:nvPr/>
        </p:nvPicPr>
        <p:blipFill>
          <a:blip r:embed="rId1"/>
          <a:stretch>
            <a:fillRect/>
          </a:stretch>
        </p:blipFill>
        <p:spPr>
          <a:xfrm>
            <a:off x="0" y="0"/>
            <a:ext cx="12192000" cy="4531360"/>
          </a:xfrm>
          <a:prstGeom prst="rect">
            <a:avLst/>
          </a:prstGeom>
        </p:spPr>
      </p:pic>
      <p:sp>
        <p:nvSpPr>
          <p:cNvPr id="5" name="Text Box 4"/>
          <p:cNvSpPr txBox="1"/>
          <p:nvPr/>
        </p:nvSpPr>
        <p:spPr>
          <a:xfrm>
            <a:off x="228600" y="4531360"/>
            <a:ext cx="11734800" cy="2215515"/>
          </a:xfrm>
          <a:prstGeom prst="rect">
            <a:avLst/>
          </a:prstGeom>
          <a:noFill/>
        </p:spPr>
        <p:txBody>
          <a:bodyPr wrap="square" rtlCol="0" anchor="t">
            <a:noAutofit/>
          </a:bodyPr>
          <a:p>
            <a:r>
              <a:rPr lang="en-US" altLang="en-US" b="1">
                <a:sym typeface="+mn-ea"/>
              </a:rPr>
              <a:t>                                                   The waveform shows the digital lock system operation.</a:t>
            </a:r>
            <a:endParaRPr lang="en-US" altLang="en-US" b="1">
              <a:sym typeface="+mn-ea"/>
            </a:endParaRPr>
          </a:p>
          <a:p>
            <a:pPr marL="285750" indent="-285750" algn="just">
              <a:buFont typeface="Arial" panose="020B0604020202020204" pitchFamily="34" charset="0"/>
              <a:buChar char="•"/>
            </a:pPr>
            <a:r>
              <a:rPr lang="en-US" altLang="en-US">
                <a:sym typeface="+mn-ea"/>
              </a:rPr>
              <a:t>Initially, the system is in LOCKED state (lock_status = 1).</a:t>
            </a:r>
            <a:endParaRPr lang="en-US" altLang="en-US">
              <a:sym typeface="+mn-ea"/>
            </a:endParaRPr>
          </a:p>
          <a:p>
            <a:pPr marL="285750" indent="-285750" algn="just">
              <a:buFont typeface="Arial" panose="020B0604020202020204" pitchFamily="34" charset="0"/>
              <a:buChar char="•"/>
            </a:pPr>
            <a:r>
              <a:rPr lang="en-US" altLang="en-US">
                <a:sym typeface="+mn-ea"/>
              </a:rPr>
              <a:t>A wrong password (1111) is entered but the system remains locked. </a:t>
            </a:r>
            <a:endParaRPr lang="en-US" altLang="en-US">
              <a:sym typeface="+mn-ea"/>
            </a:endParaRPr>
          </a:p>
          <a:p>
            <a:pPr marL="285750" indent="-285750" algn="just">
              <a:buFont typeface="Arial" panose="020B0604020202020204" pitchFamily="34" charset="0"/>
              <a:buChar char="•"/>
            </a:pPr>
            <a:r>
              <a:rPr lang="en-US" altLang="en-US">
                <a:sym typeface="+mn-ea"/>
              </a:rPr>
              <a:t>On entering the correct password (1010), the FSM moves to the PWD_OK state and otp_send pulses high, simulating OTP delivery.</a:t>
            </a:r>
            <a:endParaRPr lang="en-US" altLang="en-US">
              <a:sym typeface="+mn-ea"/>
            </a:endParaRPr>
          </a:p>
          <a:p>
            <a:pPr marL="285750" indent="-285750" algn="just">
              <a:buFont typeface="Arial" panose="020B0604020202020204" pitchFamily="34" charset="0"/>
              <a:buChar char="•"/>
            </a:pPr>
            <a:r>
              <a:rPr lang="en-US" altLang="en-US">
                <a:sym typeface="+mn-ea"/>
              </a:rPr>
              <a:t> Two wrong OTP attempts (1111, 0011) keep the system locked.</a:t>
            </a:r>
            <a:endParaRPr lang="en-US" altLang="en-US">
              <a:sym typeface="+mn-ea"/>
            </a:endParaRPr>
          </a:p>
          <a:p>
            <a:pPr marL="285750" indent="-285750" algn="just">
              <a:buFont typeface="Arial" panose="020B0604020202020204" pitchFamily="34" charset="0"/>
              <a:buChar char="•"/>
            </a:pPr>
            <a:r>
              <a:rPr lang="en-US" altLang="en-US">
                <a:sym typeface="+mn-ea"/>
              </a:rPr>
              <a:t> On the correct OTP (0101), the FSM transitions to UNLOCKED and lock_status goes low, successfully opening the lock.</a:t>
            </a:r>
            <a:endParaRPr lang="en-US" altLang="en-US">
              <a:sym typeface="+mn-ea"/>
            </a:endParaRPr>
          </a:p>
          <a:p>
            <a:pPr marL="285750" indent="-285750" algn="just">
              <a:buFont typeface="Arial" panose="020B0604020202020204" pitchFamily="34" charset="0"/>
              <a:buChar char="•"/>
            </a:pPr>
            <a:r>
              <a:rPr lang="en-US" altLang="en-US">
                <a:sym typeface="+mn-ea"/>
              </a:rPr>
              <a:t> This demonstrates proper two-factor authentication and multiple OTP retry handling.</a:t>
            </a:r>
            <a:endParaRPr lang="en-US" altLang="en-US">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olidFill>
                  <a:srgbClr val="7030A0"/>
                </a:solidFill>
                <a:latin typeface="Times New Roman" panose="02020603050405020304" pitchFamily="18" charset="0"/>
                <a:cs typeface="Times New Roman" panose="02020603050405020304" pitchFamily="18" charset="0"/>
              </a:rPr>
              <a:t>Future Scope</a:t>
            </a:r>
            <a:endParaRPr lang="en-US" b="1">
              <a:solidFill>
                <a:srgbClr val="7030A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74040" y="1245870"/>
            <a:ext cx="10515600" cy="2306955"/>
          </a:xfrm>
        </p:spPr>
        <p:txBody>
          <a:bodyPr/>
          <a:p>
            <a:pPr marL="0" indent="0" algn="just">
              <a:lnSpc>
                <a:spcPct val="100000"/>
              </a:lnSpc>
              <a:buNone/>
            </a:pPr>
            <a:endParaRPr lang="en-US" altLang="en-US" sz="2000">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sym typeface="+mn-ea"/>
              </a:rPr>
              <a:t>Physical hardware implementation (FPGA/ASIC synthesis).</a:t>
            </a:r>
            <a:endParaRPr lang="en-US" altLang="en-US" sz="2000">
              <a:latin typeface="Times New Roman" panose="02020603050405020304" pitchFamily="18" charset="0"/>
              <a:cs typeface="Times New Roman" panose="02020603050405020304" pitchFamily="18" charset="0"/>
            </a:endParaRPr>
          </a:p>
          <a:p>
            <a:pPr algn="just">
              <a:lnSpc>
                <a:spcPct val="100000"/>
              </a:lnSpc>
            </a:pPr>
            <a:r>
              <a:rPr lang="en-US" altLang="en-US" sz="2000">
                <a:latin typeface="Times New Roman" panose="02020603050405020304" pitchFamily="18" charset="0"/>
                <a:cs typeface="Times New Roman" panose="02020603050405020304" pitchFamily="18" charset="0"/>
                <a:sym typeface="+mn-ea"/>
              </a:rPr>
              <a:t>Advanced features like an attempt counter or automatic re-locking.</a:t>
            </a:r>
            <a:endParaRPr lang="en-US" altLang="en-US" sz="2000">
              <a:latin typeface="Times New Roman" panose="02020603050405020304" pitchFamily="18" charset="0"/>
              <a:cs typeface="Times New Roman" panose="02020603050405020304" pitchFamily="18" charset="0"/>
            </a:endParaRPr>
          </a:p>
          <a:p>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2076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4836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rPr>
              <a:t> References </a:t>
            </a:r>
            <a:endParaRPr lang="en-US" b="1" noProof="0" dirty="0">
              <a:ln>
                <a:noFill/>
              </a:ln>
              <a:solidFill>
                <a:srgbClr val="7030A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mn-ea"/>
            </a:endParaRPr>
          </a:p>
        </p:txBody>
      </p:sp>
      <p:sp>
        <p:nvSpPr>
          <p:cNvPr id="3" name="Content Placeholder 2"/>
          <p:cNvSpPr>
            <a:spLocks noGrp="1"/>
          </p:cNvSpPr>
          <p:nvPr>
            <p:ph idx="1"/>
          </p:nvPr>
        </p:nvSpPr>
        <p:spPr>
          <a:xfrm>
            <a:off x="838200" y="1545590"/>
            <a:ext cx="10515600" cy="4936490"/>
          </a:xfrm>
        </p:spPr>
        <p:txBody>
          <a:bodyPr/>
          <a:p>
            <a:r>
              <a:rPr lang="en-US" altLang="en-US" sz="2000">
                <a:latin typeface="Times New Roman" panose="02020603050405020304" pitchFamily="18" charset="0"/>
                <a:cs typeface="Times New Roman" panose="02020603050405020304" pitchFamily="18" charset="0"/>
              </a:rPr>
              <a:t>P. S. Navale and S. R. Patil, "FPGA Based Digital Lock System Using RFID and Password," International Journal of Advanced Research in Electrical, Electronics and Instrumentation Engineering, Vol. 4, Issue 5, May 2015, pp. 4102-4106.</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M. A. A. Rahman and Z. A. Zukarnain, "Implementation of One-Time Password Algorithm on Embedded System," 2012 International Conference on Computer and Communication Engineering (ICCCE), Kuala Lumpur, July 3-5, 2012, pp. 658-662.</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A. K. Sah, A. Barik, and A. Pradhan, "Design and Implementation of Digital Number Lock System Using Finite State Machine," International Journal of Engineering Research &amp; Technology, Vol. 6, Issue 04, April 2017.</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K. Anvekar and S. Banakar, "A Verilog Implementation of a Digital Combination Lock based on a Finite State Machine," International Journal of Computer Applications, Vol. 118, No. 3, May 2015, pp. 29-32.</a:t>
            </a:r>
            <a:endParaRPr lang="en-US" altLang="en-US" sz="2000">
              <a:latin typeface="Times New Roman" panose="02020603050405020304" pitchFamily="18" charset="0"/>
              <a:cs typeface="Times New Roman" panose="02020603050405020304" pitchFamily="18" charset="0"/>
            </a:endParaRPr>
          </a:p>
          <a:p>
            <a:r>
              <a:rPr lang="en-US" altLang="en-US" sz="2000">
                <a:latin typeface="Times New Roman" panose="02020603050405020304" pitchFamily="18" charset="0"/>
                <a:cs typeface="Times New Roman" panose="02020603050405020304" pitchFamily="18" charset="0"/>
              </a:rPr>
              <a:t>R. S. S. Wu, M. F. A. Aziz, N. A. H. N. Azman, S. K. Sahari, "GSM Based Home Security System Using Arduino," 2017 IEEE 8th Control and System Graduate Research Colloquium (ICSGRC), Shah Alam, Malaysia, Aug. 2017, pp. 110-115.</a:t>
            </a:r>
            <a:endParaRPr lang="en-US" altLang="en-US" sz="2000">
              <a:latin typeface="Times New Roman" panose="02020603050405020304" pitchFamily="18" charset="0"/>
              <a:cs typeface="Times New Roman" panose="02020603050405020304" pitchFamily="18" charset="0"/>
            </a:endParaRPr>
          </a:p>
        </p:txBody>
      </p:sp>
      <p:sp>
        <p:nvSpPr>
          <p:cNvPr id="5" name="Slide Number Placeholder 4"/>
          <p:cNvSpPr txBox="1">
            <a:spLocks noGrp="1"/>
          </p:cNvSpPr>
          <p:nvPr>
            <p:ph type="sldNum" sz="quarter" idx="12"/>
          </p:nvPr>
        </p:nvSpPr>
        <p:spPr>
          <a:xfrm>
            <a:off x="8620760" y="6356350"/>
            <a:ext cx="2743200" cy="365125"/>
          </a:xfrm>
          <a:noFill/>
        </p:spPr>
        <p:txBody>
          <a:bodyPr vert="horz" lIns="91440" tIns="45720" rIns="91440" bIns="45720" rtlCol="0" anchor="ct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Calibri" panose="020F050202020403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mn-ea"/>
                <a:cs typeface="+mn-cs"/>
              </a:defRPr>
            </a:lvl5pPr>
          </a:lstStyle>
          <a:p>
            <a:pPr lvl="0" algn="r" eaLnBrk="1" hangingPunct="1">
              <a:buNone/>
            </a:pPr>
            <a:fld id="{9A0DB2DC-4C9A-4742-B13C-FB6460FD3503}" type="slidenum">
              <a:rPr lang="en-IN" altLang="x-none" sz="1200" dirty="0">
                <a:solidFill>
                  <a:srgbClr val="898989"/>
                </a:solidFill>
              </a:rPr>
            </a:fld>
            <a:endParaRPr lang="en-IN" altLang="x-none" sz="1200" dirty="0">
              <a:solidFill>
                <a:srgbClr val="898989"/>
              </a:solidFill>
            </a:endParaRPr>
          </a:p>
        </p:txBody>
      </p:sp>
      <p:sp>
        <p:nvSpPr>
          <p:cNvPr id="6" name="Footer Placeholder 5"/>
          <p:cNvSpPr txBox="1">
            <a:spLocks noGrp="1"/>
          </p:cNvSpPr>
          <p:nvPr>
            <p:ph type="ftr" sz="quarter" idx="11"/>
          </p:nvPr>
        </p:nvSpPr>
        <p:spPr>
          <a:xfrm>
            <a:off x="848360" y="6356350"/>
            <a:ext cx="7315200" cy="365125"/>
          </a:xfrm>
          <a:noFill/>
        </p:spPr>
        <p:txBody>
          <a:bodyPr vert="horz" lIns="91440" tIns="45720" rIns="91440" bIns="45720" rtlCol="0" anchor="ct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rPr>
              <a:t>Dept. of ECE                                                                                         2025-26</a:t>
            </a:r>
            <a:endParaRPr kumimoji="0" lang="en-IN" sz="12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73225" y="2349500"/>
            <a:ext cx="8846185" cy="1325880"/>
          </a:xfrm>
        </p:spPr>
        <p:txBody>
          <a:bodyPr/>
          <a:p>
            <a:r>
              <a:rPr lang="en-IN" altLang="en-US" sz="13800" b="1">
                <a:solidFill>
                  <a:srgbClr val="7030A0"/>
                </a:solidFill>
                <a:latin typeface="Times New Roman" panose="02020603050405020304" pitchFamily="18" charset="0"/>
                <a:cs typeface="Times New Roman" panose="02020603050405020304" pitchFamily="18" charset="0"/>
              </a:rPr>
              <a:t>Thank You</a:t>
            </a:r>
            <a:endParaRPr lang="en-IN" altLang="en-US" sz="13800" b="1">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7547</Words>
  <Application>WPS Presentation</Application>
  <PresentationFormat>Widescreen</PresentationFormat>
  <Paragraphs>168</Paragraphs>
  <Slides>14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Arial</vt:lpstr>
      <vt:lpstr>SimSun</vt:lpstr>
      <vt:lpstr>Wingdings</vt:lpstr>
      <vt:lpstr>Calibri</vt:lpstr>
      <vt:lpstr>Calibri Light</vt:lpstr>
      <vt:lpstr>English111 Vivace BT</vt:lpstr>
      <vt:lpstr>Times New Roman</vt:lpstr>
      <vt:lpstr>MS Mincho</vt:lpstr>
      <vt:lpstr>Yu Gothic</vt:lpstr>
      <vt:lpstr>Symbol</vt:lpstr>
      <vt:lpstr>Wingdings</vt:lpstr>
      <vt:lpstr>Microsoft YaHei</vt:lpstr>
      <vt:lpstr>Arial Unicode MS</vt:lpstr>
      <vt:lpstr>Office Theme</vt:lpstr>
      <vt:lpstr>PowerPoint 演示文稿</vt:lpstr>
      <vt:lpstr>Contents</vt:lpstr>
      <vt:lpstr>Organisation</vt:lpstr>
      <vt:lpstr>Department -VLSI</vt:lpstr>
      <vt:lpstr>Objective</vt:lpstr>
      <vt:lpstr>Scope</vt:lpstr>
      <vt:lpstr>Description</vt:lpstr>
      <vt:lpstr>Methodology</vt:lpstr>
      <vt:lpstr>PowerPoint 演示文稿</vt:lpstr>
      <vt:lpstr>Results</vt:lpstr>
      <vt:lpstr>PowerPoint 演示文稿</vt:lpstr>
      <vt:lpstr>PowerPoint 演示文稿</vt:lpstr>
      <vt:lpstr> References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 Sankpal</dc:creator>
  <cp:lastModifiedBy>pavana p</cp:lastModifiedBy>
  <cp:revision>24</cp:revision>
  <dcterms:created xsi:type="dcterms:W3CDTF">2021-07-10T05:40:00Z</dcterms:created>
  <dcterms:modified xsi:type="dcterms:W3CDTF">2025-08-20T07:06:21Z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EDC5AA5D138D48A7BBE6AE40497E27A2_12</vt:lpwstr>
  </property>
  <property fmtid="{D5CDD505-2E9C-101B-9397-08002B2CF9AE}" pid="3" name="KSOProductBuildVer">
    <vt:lpwstr>1033-12.2.0.21931</vt:lpwstr>
  </property>
</Properties>
</file>